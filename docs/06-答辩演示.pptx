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79def296-16a0-66bc-f4c9-5888a2d44b45}">
          <p14:sldIdLst>
            <p14:sldId id="256"/>
          </p14:sldIdLst>
        </p14:section>
        <p14:section name="目录" id="{670f17ea-773b-3d6e-bdf6-684b9b11a112}">
          <p14:sldIdLst>
            <p14:sldId id="257"/>
          </p14:sldIdLst>
        </p14:section>
        <p14:section name="项目背景" id="{87b09cfe-5788-aa60-4274-83f0a6b74c90}">
          <p14:sldIdLst>
            <p14:sldId id="258"/>
          </p14:sldIdLst>
        </p14:section>
        <p14:section name="需求分析" id="{c5091fce-8db9-8781-b6ea-fdbf40555cbe}">
          <p14:sldIdLst>
            <p14:sldId id="259"/>
            <p14:sldId id="260"/>
            <p14:sldId id="261"/>
          </p14:sldIdLst>
        </p14:section>
        <p14:section name="系统设计" id="{a036bf6d-1f40-3dc4-205c-8ff6950be6f4}">
          <p14:sldIdLst>
            <p14:sldId id="262"/>
            <p14:sldId id="263"/>
            <p14:sldId id="264"/>
            <p14:sldId id="265"/>
            <p14:sldId id="266"/>
          </p14:sldIdLst>
        </p14:section>
        <p14:section name="系统实现" id="{b7298630-f78b-dfb7-35b0-75de531bbea5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软件测试" id="{21132a36-5c3c-0892-e196-400231ad9a35}">
          <p14:sldIdLst>
            <p14:sldId id="273"/>
            <p14:sldId id="274"/>
            <p14:sldId id="275"/>
          </p14:sldIdLst>
        </p14:section>
        <p14:section name="总结展望" id="{2b816f0f-d1c7-c52e-b065-a81d498009e8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+mn-lt"/>
              </a:rPr>
              <a:t>各包行覆盖率（%）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行覆盖率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controller.admin</c:v>
                  </c:pt>
                  <c:pt idx="1">
                    <c:v>dto</c:v>
                  </c:pt>
                  <c:pt idx="2">
                    <c:v>entity</c:v>
                  </c:pt>
                  <c:pt idx="3">
                    <c:v>controller</c:v>
                  </c:pt>
                  <c:pt idx="4">
                    <c:v>security</c:v>
                  </c:pt>
                  <c:pt idx="5">
                    <c:v>service</c:v>
                  </c:pt>
                  <c:pt idx="6">
                    <c:v>config</c:v>
                  </c:pt>
                  <c:pt idx="7">
                    <c:v>common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98.5</c:v>
                </c:pt>
                <c:pt idx="3">
                  <c:v>98.3</c:v>
                </c:pt>
                <c:pt idx="4">
                  <c:v>98.1</c:v>
                </c:pt>
                <c:pt idx="5">
                  <c:v>97.4</c:v>
                </c:pt>
                <c:pt idx="6">
                  <c:v>94.7</c:v>
                </c:pt>
                <c:pt idx="7">
                  <c:v>85.3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各位老师好，我汇报的题目是“校园二手交易平台”。这是一个面向在校学生的闲置物品交易系统，采用 Spring Boot + Vue3 前后端分离架构实现，完整经历了需求分析、设计、实现和测试四个阶段。下面我按目录依次介绍。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本次汇报分为六个部分：项目背景、需求分析、系统设计、系统实现、软件测试，最后是总结与展望。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先说背景。每到毕业季和开学季，校园里有大量教材、电子产品、生活用品需要转手，但现在主要靠 QQ 群、表白墙发布，信息零散、难以检索，交易双方互不认识也缺乏信任，很多东西最后被丢弃。因此我们的目标是做一个只服务本校学生的交易平台：商品集中展示、可以搜索筛选；商品上架前由管理员审核；交易采用同校当面验货、线下交付的方式，平台只负责撮合和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分析阶段我们识别出三类用户：游客、注册用户和管理员，其中注册用户同时可以是买家和卖家。按业务把系统划分为五个模块：用户模块负责注册登录和个人资料；商品模块负责发布、编辑、上下架和搜索；交易模块负责下单、确认、收货和取消；互动模块包括收藏和留言；后台管理模块包括审核、用户管理、分类管理和数据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系统的用例图。左边是游客和普通用户的公共功能和个人功能，中间是买家、卖家各自的用例，下方是管理员的后台用例。其中“发布商品”包含“上传商品图片”，“浏览搜索商品”可以扩展“筛选与排序”。每个用例在需求规格说明书中都有详细的用例描述，包括前置条件、基本流程和异常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业务流程分六步：卖家发布商品后进入待审核；管理员审核通过才会上架；买家看中后下单，商品立即锁定为交易中；卖家确认订单后双方可以看到对方的联系电话，约定时间地点当面验货；最后买家确认收货，订单完成、商品标记为已售出。在完成之前，买卖双方都可以取消订单，商品会自动恢复在售。右边是对应的活动图，包含了不可购买、被抢先下单等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系统采用前后端分离的 B/S 架构。前端是 Vue3 单页应用，用 Element Plus 组件库、Vue Router 路由、Axios 调用接口、ECharts 画统计图，所有第三方库都放在本地，断网也能演示。后端是 Spring Boot 3.5 分层架构：拦截器做认证鉴权，Controller 接收请求，Service 实现业务规则，Repository 用 Spring Data JPA 访问数据库。数据库默认用内嵌 H2，零配置运行，改一个配置就能切换到 MySQL。前后端通过 REST + JSON 通信，共 35 个接口。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数据库共 7 张表。users 存储用户和角色；category 是商品分类；goods 是核心的商品表，记录价格、成色、状态和浏览量；goods_image 保存商品的多张图片；favorite 是收藏表，用户和商品联合唯一；comment 是留言表，支持回复某个用户；trade_order 是订单表，下单时保存商品标题、图片和价格的快照，卖家之后修改商品也不会影响历史订单。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第一个关键设计是认证授权。用户登录时后端用 BCrypt 校验密码，成功后签发一个 JWT 令牌，令牌里只保存用户 ID。之后每个请求在请求头携带 Bearer Token，由统一的拦截器解析令牌，并且每次都重新查询一次用户，这样管理员封禁账号可以立即生效。接口默认需要登录，标注了 @PublicApi 的接口游客也能访问；/api/admin 开头的接口只允许管理员访问，越权会返回 403。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第二个关键设计是防止超卖。二手商品只有一件，如果两个人同时下单，传统的“先查询再更新”会出现两个人都下单成功的问题。我们的做法是把检查和修改合成一条带条件的 UPDATE 语句：只有当商品状态还是“在售”时才改为“交易中”，数据库保证这一步是原子的。返回 1 行说明抢到了，返回 0 行说明已被别人抢先，直接返回 409。我们专门写了并发测试：10 个买家线程同时抢同一件商品，重复 5 轮，每轮都只有 1 人成功，其余 9 人收到 409。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商品和订单都用状态机来管理。商品有六种状态：待审核、在售、审核未通过、交易中、已售出、已下架，每个状态允许哪些操作在 Service 层用枚举集合严格校验，比如交易中和已售出的商品不能编辑。订单有四种状态：待卖家确认、待交易、已完成、已取消，订单状态的变化会联动商品状态：下单时商品变为交易中，取消时恢复在售，确认收货时变为已售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实现阶段，后端共 73 个 Java 源文件约 3407 行，按 controller、service、repository、entity、dto、security 等包分层；前端 23 个 JS 模块约 2796 行（含样式）；测试代码 16 个文件约 2133 行。项目首次启动会自动写入演示数据，包括 6 个用户、7 个分类、18 件商品和若干订单，方便直接体验。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首页顶部是搜索框和发布入口，下面是分类导航、排序方式和价格区间筛选，商品以卡片形式展示价格、成色、卖家和浏览量。右边是关键词搜索的结果页。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商品详情页展示大图、价格和原价、成色、交易地点、浏览和收藏数，下方是留言区，买家可以咨询，卖家可以回复。点击“我想要”弹出下单确认框，可以给卖家留言约定时间。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发布页支持最多 6 张图片上传，前后端双重校验图片格式和大小，表单有必填和格式校验。发布后进入“我发布的”，可以按状态筛选，看到审核结果和驳回原因，并进行编辑、下架、重新上架。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订单分为“我卖出的”和“我买到的”。卖家确认订单后，双方都能看到对方的联系电话，线下交易完成后由买家确认收货。每个订单都显示订单号、商品快照和买家留言。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管理后台的数据概览页用统计卡片和 ECharts 展示用户数、商品数、成交额、近 7 天下单趋势、分类分布和商品状态。商品审核页按提交时间排列待审核商品，可以查看详情后通过或驳回。另外还有商品管理、用户封禁和分类管理页面。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测试按金字塔分三层。底层是 76 个单元测试，用 Mockito 隔离数据库，覆盖每个 Service 的业务规则和异常分支；中间是 27 个接口集成测试和 5 轮并发测试，用 MockMvc 加真实的 H2 数据库，验证鉴权、参数校验和完整交易流程；顶层是 27 个端到端系统测试，用 Playwright 驱动真实浏览器模拟用户操作。自动化测试共 108 次执行，全部通过，系统测试 27/27 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JaCoCo 统计的整体行覆盖率是 84.2%，分支覆盖率 80.1%，方法覆盖率 93.3%。左图是各个包的行覆盖率，核心的 service 包达到 97.4%。整体数字被 init 包拉低了：它只负责写入演示数据，在测试环境中是关闭的；去掉它之后行覆盖率为 97.2%。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开发和测试过程中一共记录了 7 个缺陷，覆盖构建、接口、后端逻辑、前端界面和测试脚本，都已经修复并通过回归测试。比较典型的是浏览量统计：最初的实现会修改商品实体，可能顺带刷新商品的更新时间，我们改成数据库原子递增，并把该列设为不可通过实体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项目从 9 月 18 日开始，历时约 6 周：第一周需求分析并评审，第二周完成概要和详细设计，随后前后端并行编码约两周半，测试和编码后期重叠进行，最后半周整理文档、准备答辩。四个里程碑分别是需求评审、设计评审、系统提测和项目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总结一下：我们按软件工程流程完成了需求、设计、实现和测试，交付了一个功能完整、可以一键运行的系统，以及配套的五份文档。通过这个项目，我们实践了分层架构、RESTful 接口设计、并发控制和自动化测试。不足之处在于目前只支持线下交易，后续计划接入在线支付和担保交易、增加买卖双方即时聊天和消息通知、根据浏览和收藏做个性化推荐，并使用 Docker 部署到云服务器。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我的汇报到这里结束，谢谢各位老师。现场可以用演示账号登录系统进行演示，欢迎老师提问。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校园二手交易平台 · 软件工程课程设计答辩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校园二手交易平台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软件工程课程设计答辩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Campus Market  ·  校园闲置物品交易系统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姓名：李帆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学号：2412190102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班级：软件2402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指导教师：徐斌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浙江工商大学  计算机科学与技术学院  ·  2026 年 10 月</a:t>
            </a:r>
            <a:endParaRPr lang="en-US" sz="1200" dirty="0"/>
          </a:p>
        </p:txBody>
      </p:sp>
      <p:sp>
        <p:nvSpPr>
          <p:cNvPr id="7" name="cover-frame"/>
          <p:cNvSpPr/>
          <p:nvPr/>
        </p:nvSpPr>
        <p:spPr>
          <a:xfrm>
            <a:off x="5074920" y="960120"/>
            <a:ext cx="3840480" cy="2606040"/>
          </a:xfrm>
          <a:prstGeom prst="roundRect">
            <a:avLst>
              <a:gd name="adj" fmla="val 3509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pic>
        <p:nvPicPr>
          <p:cNvPr id="8" name="Image 0" descr="系统首页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051560"/>
            <a:ext cx="3657600" cy="2286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749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系统首页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CONTENTS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汇报目录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527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icon-badge-FaLightbulb"/>
          <p:cNvSpPr/>
          <p:nvPr/>
        </p:nvSpPr>
        <p:spPr>
          <a:xfrm>
            <a:off x="2377440" y="152704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0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740" y="164134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057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项目背景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395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痛点与目标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326898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497580" y="1527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icon-badge-FaClipboardList"/>
          <p:cNvSpPr/>
          <p:nvPr/>
        </p:nvSpPr>
        <p:spPr>
          <a:xfrm>
            <a:off x="5189220" y="152704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134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97580" y="2057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需求分析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497580" y="2395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角色、用例与业务流程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08076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309360" y="1527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icon-badge-FaDiagramProject"/>
          <p:cNvSpPr/>
          <p:nvPr/>
        </p:nvSpPr>
        <p:spPr>
          <a:xfrm>
            <a:off x="8001000" y="152704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Image 2" descr="FaDiagram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64134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09360" y="2057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系统设计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309360" y="2395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架构、数据库与关键设计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306324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685800" y="3264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25" name="icon-badge-FaCode"/>
          <p:cNvSpPr/>
          <p:nvPr/>
        </p:nvSpPr>
        <p:spPr>
          <a:xfrm>
            <a:off x="2377440" y="326440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6" name="Image 3" descr="Fa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40" y="337870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" y="37947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系统实现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41330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技术栈、规模与界面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3268980" y="306324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3497580" y="3264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31" name="icon-badge-FaVial"/>
          <p:cNvSpPr/>
          <p:nvPr/>
        </p:nvSpPr>
        <p:spPr>
          <a:xfrm>
            <a:off x="5189220" y="326440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2" name="Image 4" descr="FaV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37870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497580" y="37947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软件测试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3497580" y="41330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策略、覆盖率与缺陷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6080760" y="306324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6309360" y="3264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37" name="icon-badge-FaFlagCheckered"/>
          <p:cNvSpPr/>
          <p:nvPr/>
        </p:nvSpPr>
        <p:spPr>
          <a:xfrm>
            <a:off x="8001000" y="326440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8" name="Image 5" descr="FaFlagChecker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3378708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09360" y="37947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总结展望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41330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成果、收获与改进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项目背景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校园闲置交易的痛点与平台目标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现状痛点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60020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-badge-FaComments"/>
          <p:cNvSpPr/>
          <p:nvPr/>
        </p:nvSpPr>
        <p:spPr>
          <a:xfrm>
            <a:off x="640080" y="1792224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Fa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019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信息分散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QQ 群、表白墙刷屏，商品难以检索和比较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256032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-badge-FaUserShield"/>
          <p:cNvSpPr/>
          <p:nvPr/>
        </p:nvSpPr>
        <p:spPr>
          <a:xfrm>
            <a:off x="640080" y="2752344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1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62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缺乏信任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互不认识，虚假信息、违规物品无人把关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457200" y="352044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icon-badge-FaRecycle"/>
          <p:cNvSpPr/>
          <p:nvPr/>
        </p:nvSpPr>
        <p:spPr>
          <a:xfrm>
            <a:off x="640080" y="3712464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2" descr="FaRecy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8221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资源浪费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毕业季大量教材和电器被丢弃，利用率低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平台目标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4663440" y="16002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-badge-FaMagnifyingGlass"/>
          <p:cNvSpPr/>
          <p:nvPr/>
        </p:nvSpPr>
        <p:spPr>
          <a:xfrm>
            <a:off x="4846320" y="178308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FaMagnifyingGl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88366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94960" y="172821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集中展示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分类浏览、关键词搜索、价格筛选</a:t>
            </a:r>
            <a:endParaRPr lang="en-US" sz="1400" dirty="0"/>
          </a:p>
        </p:txBody>
      </p:sp>
      <p:sp>
        <p:nvSpPr>
          <p:cNvPr id="26" name="icon-badge-FaClipboardCheck"/>
          <p:cNvSpPr/>
          <p:nvPr/>
        </p:nvSpPr>
        <p:spPr>
          <a:xfrm>
            <a:off x="4846320" y="24048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FaClipboar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505456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235000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审核上架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管理员审核通过才展示，违规可下架</a:t>
            </a:r>
            <a:endParaRPr lang="en-US" sz="1400" dirty="0"/>
          </a:p>
        </p:txBody>
      </p:sp>
      <p:sp>
        <p:nvSpPr>
          <p:cNvPr id="29" name="icon-badge-FaHandshake"/>
          <p:cNvSpPr/>
          <p:nvPr/>
        </p:nvSpPr>
        <p:spPr>
          <a:xfrm>
            <a:off x="4846320" y="302666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Fa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127248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394960" y="297180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同校面交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下单 → 卖家确认 → 当面验货 → 收货</a:t>
            </a:r>
            <a:endParaRPr lang="en-US" sz="1400" dirty="0"/>
          </a:p>
        </p:txBody>
      </p:sp>
      <p:sp>
        <p:nvSpPr>
          <p:cNvPr id="32" name="icon-badge-FaUsers"/>
          <p:cNvSpPr/>
          <p:nvPr/>
        </p:nvSpPr>
        <p:spPr>
          <a:xfrm>
            <a:off x="4846320" y="3648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6" descr="Fa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74904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94960" y="359359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三类角色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游客浏览、学生买卖、管理员运营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需求分析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用户角色与功能模块划分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1415103" y="1188720"/>
            <a:ext cx="6313793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255" y="1261872"/>
            <a:ext cx="6167489" cy="255117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57200" y="4023360"/>
            <a:ext cx="26060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-badge-FaEye"/>
          <p:cNvSpPr/>
          <p:nvPr/>
        </p:nvSpPr>
        <p:spPr>
          <a:xfrm>
            <a:off x="585216" y="41330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336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游客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浏览、搜索、查看详情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246120" y="4023360"/>
            <a:ext cx="26060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-badge-FaUserGraduate"/>
          <p:cNvSpPr/>
          <p:nvPr/>
        </p:nvSpPr>
        <p:spPr>
          <a:xfrm>
            <a:off x="3374136" y="41330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FaUserGradu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23367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8620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学生用户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买家 + 卖家，发布与交易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4023360"/>
            <a:ext cx="26060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badge-FaUserGear"/>
          <p:cNvSpPr/>
          <p:nvPr/>
        </p:nvSpPr>
        <p:spPr>
          <a:xfrm>
            <a:off x="6163056" y="41330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FaUserGe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3367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7512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管理员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审核、封禁、分类、统计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需求分析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系统用例图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720104" y="1143000"/>
            <a:ext cx="3406112" cy="3566160"/>
          </a:xfrm>
          <a:prstGeom prst="roundRect">
            <a:avLst>
              <a:gd name="adj" fmla="val 214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56" y="1216152"/>
            <a:ext cx="3259808" cy="341985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-badge-FaEye"/>
          <p:cNvSpPr/>
          <p:nvPr/>
        </p:nvSpPr>
        <p:spPr>
          <a:xfrm>
            <a:off x="4828032" y="1362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630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49240" y="12252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游客 / 公共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浏览搜索、筛选排序、查看详情、注册登录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663440" y="2075688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-badge-FaStore"/>
          <p:cNvSpPr/>
          <p:nvPr/>
        </p:nvSpPr>
        <p:spPr>
          <a:xfrm>
            <a:off x="4828032" y="224942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Fa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35000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49240" y="211226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发布（含图片上传）、编辑、上下架、确认订单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962656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badge-FaCartShopping"/>
          <p:cNvSpPr/>
          <p:nvPr/>
        </p:nvSpPr>
        <p:spPr>
          <a:xfrm>
            <a:off x="4828032" y="31363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FaCartShopp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3697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349240" y="299923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买家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收藏、留言、下单、确认收货、取消订单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663440" y="3849624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con-badge-FaUserGear"/>
          <p:cNvSpPr/>
          <p:nvPr/>
        </p:nvSpPr>
        <p:spPr>
          <a:xfrm>
            <a:off x="4828032" y="40233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FaUserGe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412394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349240" y="388620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管理员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审核、强制下架、封禁用户、分类管理、统计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需求分析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核心业务流程：从发布到成交</a:t>
            </a:r>
            <a:endParaRPr lang="en-US" sz="2600" dirty="0"/>
          </a:p>
        </p:txBody>
      </p:sp>
      <p:sp>
        <p:nvSpPr>
          <p:cNvPr id="5" name="step-no"/>
          <p:cNvSpPr/>
          <p:nvPr/>
        </p:nvSpPr>
        <p:spPr>
          <a:xfrm>
            <a:off x="45720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line"/>
          <p:cNvSpPr/>
          <p:nvPr/>
        </p:nvSpPr>
        <p:spPr>
          <a:xfrm>
            <a:off x="649224" y="1645920"/>
            <a:ext cx="0" cy="164592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21615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发布商品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卖家填写信息、上传图片，进入“待审核”</a:t>
            </a:r>
            <a:endParaRPr lang="en-US" sz="1400" dirty="0"/>
          </a:p>
        </p:txBody>
      </p:sp>
      <p:sp>
        <p:nvSpPr>
          <p:cNvPr id="9" name="step-no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line"/>
          <p:cNvSpPr/>
          <p:nvPr/>
        </p:nvSpPr>
        <p:spPr>
          <a:xfrm>
            <a:off x="649224" y="2231136"/>
            <a:ext cx="0" cy="164592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18013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审核上架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管理员审核通过 → 在售；驳回需填写原因</a:t>
            </a:r>
            <a:endParaRPr lang="en-US" sz="1400" dirty="0"/>
          </a:p>
        </p:txBody>
      </p:sp>
      <p:sp>
        <p:nvSpPr>
          <p:cNvPr id="13" name="step-no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ep-line"/>
          <p:cNvSpPr/>
          <p:nvPr/>
        </p:nvSpPr>
        <p:spPr>
          <a:xfrm>
            <a:off x="649224" y="2816352"/>
            <a:ext cx="0" cy="164592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23865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买家下单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商品锁定为“交易中”，他人不可再买</a:t>
            </a:r>
            <a:endParaRPr lang="en-US" sz="1400" dirty="0"/>
          </a:p>
        </p:txBody>
      </p:sp>
      <p:sp>
        <p:nvSpPr>
          <p:cNvPr id="17" name="step-no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tep-line"/>
          <p:cNvSpPr/>
          <p:nvPr/>
        </p:nvSpPr>
        <p:spPr>
          <a:xfrm>
            <a:off x="649224" y="3401568"/>
            <a:ext cx="0" cy="164592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2971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卖家确认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双方可见联系电话，约定面交时间地点</a:t>
            </a:r>
            <a:endParaRPr lang="en-US" sz="1400" dirty="0"/>
          </a:p>
        </p:txBody>
      </p:sp>
      <p:sp>
        <p:nvSpPr>
          <p:cNvPr id="21" name="step-no"/>
          <p:cNvSpPr/>
          <p:nvPr/>
        </p:nvSpPr>
        <p:spPr>
          <a:xfrm>
            <a:off x="457200" y="3584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tep-line"/>
          <p:cNvSpPr/>
          <p:nvPr/>
        </p:nvSpPr>
        <p:spPr>
          <a:xfrm>
            <a:off x="649224" y="3986784"/>
            <a:ext cx="0" cy="164592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35570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当面交易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线下验货付款，平台不涉及资金</a:t>
            </a:r>
            <a:endParaRPr lang="en-US" sz="1400" dirty="0"/>
          </a:p>
        </p:txBody>
      </p:sp>
      <p:sp>
        <p:nvSpPr>
          <p:cNvPr id="25" name="step-no"/>
          <p:cNvSpPr/>
          <p:nvPr/>
        </p:nvSpPr>
        <p:spPr>
          <a:xfrm>
            <a:off x="457200" y="41696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41422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确认收货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订单完成，商品变为“已售出”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669280" y="118872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-badge-FaCodeBranch"/>
          <p:cNvSpPr/>
          <p:nvPr/>
        </p:nvSpPr>
        <p:spPr>
          <a:xfrm>
            <a:off x="5852160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0" descr="Fa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1472184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355080" y="13716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异常与分支处理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852160" y="1920240"/>
            <a:ext cx="2697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审核驳回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填写原因，卖家修改后重新提交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被他人抢先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下单返回 409，提示已被下单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不能自买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卖家无法购买自己的商品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取消订单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完成前双方可取消，商品恢复在售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系统设计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总体架构与技术选型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622344" y="1143000"/>
            <a:ext cx="3418752" cy="3566160"/>
          </a:xfrm>
          <a:prstGeom prst="roundRect">
            <a:avLst>
              <a:gd name="adj" fmla="val 2140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96" y="1216152"/>
            <a:ext cx="3272448" cy="341985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480560" y="1188720"/>
            <a:ext cx="420624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-badge-FaDesktop"/>
          <p:cNvSpPr/>
          <p:nvPr/>
        </p:nvSpPr>
        <p:spPr>
          <a:xfrm>
            <a:off x="4617720" y="132588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42646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166360" y="122529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前端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Vue 3 · Element Plus · Vue Router · Axios · ECharts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480560" y="1975104"/>
            <a:ext cx="420624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-badge-FaServer"/>
          <p:cNvSpPr/>
          <p:nvPr/>
        </p:nvSpPr>
        <p:spPr>
          <a:xfrm>
            <a:off x="4617720" y="211226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21284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66360" y="20116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后端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Spring Boot 3.5 · Spring MVC · Spring Data JPA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480560" y="2761488"/>
            <a:ext cx="420624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badge-FaLock"/>
          <p:cNvSpPr/>
          <p:nvPr/>
        </p:nvSpPr>
        <p:spPr>
          <a:xfrm>
            <a:off x="4617720" y="28986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99923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66360" y="27980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安全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JWT 无状态认证 · BCrypt 加密 · 拦截器鉴权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480560" y="3547872"/>
            <a:ext cx="420624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con-badge-FaDatabase"/>
          <p:cNvSpPr/>
          <p:nvPr/>
        </p:nvSpPr>
        <p:spPr>
          <a:xfrm>
            <a:off x="4617720" y="36850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78561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166360" y="358444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数据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H2 文件数据库（默认）· MySQL 8（可切换）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448056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REST 接口 35 个 · JDK 17+ · 单个 jar 一条命令启动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系统设计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数据库设计：7 张表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568336" y="1143000"/>
            <a:ext cx="3206728" cy="3566160"/>
          </a:xfrm>
          <a:prstGeom prst="roundRect">
            <a:avLst>
              <a:gd name="adj" fmla="val 2281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88" y="1216152"/>
            <a:ext cx="3060424" cy="341985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88720"/>
          <a:ext cx="45262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777240"/>
                <a:gridCol w="2606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关键设计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用户名唯一、BCrypt 密码、角色、状态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category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名称唯一、图标、排序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价格、成色、状态、浏览量、驳回原因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goods_image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商品图片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一个商品最多 6 张，有序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favorite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(user_id, goods_id) 联合唯一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可回复指定用户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trade_order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订单号唯一，保存商品快照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系统设计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关键设计 ①：JWT 无状态认证与权限控制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-badge-FaKey"/>
          <p:cNvSpPr/>
          <p:nvPr/>
        </p:nvSpPr>
        <p:spPr>
          <a:xfrm>
            <a:off x="621792" y="1362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630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2252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登录签发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BCrypt 校验密码，签发 JWT（仅含用户 ID）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badge-FaPaperPlane"/>
          <p:cNvSpPr/>
          <p:nvPr/>
        </p:nvSpPr>
        <p:spPr>
          <a:xfrm>
            <a:off x="621792" y="223113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PaperPla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3317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09397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携带令牌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Axios 拦截器自动添加 Bearer Token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badge-FaShieldHalved"/>
          <p:cNvSpPr/>
          <p:nvPr/>
        </p:nvSpPr>
        <p:spPr>
          <a:xfrm>
            <a:off x="621792" y="30998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FaShieldHal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0040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296265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统一拦截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AuthInterceptor 解析令牌并查库，封禁立即生效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" y="379476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-badge-FaUserLock"/>
          <p:cNvSpPr/>
          <p:nvPr/>
        </p:nvSpPr>
        <p:spPr>
          <a:xfrm>
            <a:off x="621792" y="39684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FaUser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06908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383133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权限判定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@PublicApi 游客可访问；/api/admin/** 仅管理员</a:t>
            </a:r>
            <a:endParaRPr lang="en-US" sz="1400" dirty="0"/>
          </a:p>
        </p:txBody>
      </p:sp>
      <p:sp>
        <p:nvSpPr>
          <p:cNvPr id="21" name="frame"/>
          <p:cNvSpPr/>
          <p:nvPr/>
        </p:nvSpPr>
        <p:spPr>
          <a:xfrm>
            <a:off x="4868903" y="1143000"/>
            <a:ext cx="3612435" cy="35661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seq-log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055" y="1216152"/>
            <a:ext cx="3466131" cy="3419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系统设计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关键设计 ②：条件更新防止“超卖”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GoodsRepository：带条件的原子更新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@Modifying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@Query("update Goods g set g.status = :to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where g.id = :id and g.status = :from")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compareAndSetStatus(id, from, to);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OrderService#create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(compareAndSetStatus(id, ON_SALE, RESERVED) ==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conflict("手慢了，商品已被其他同学下单");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检查与修改合并为一条 SQL，由数据库保证原子性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返回 0 行 → HTTP 409，前端提示“已被抢先下单”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订单保存商品标题 / 图片 / 价格快照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577840" y="118872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badge-FaBolt"/>
          <p:cNvSpPr/>
          <p:nvPr/>
        </p:nvSpPr>
        <p:spPr>
          <a:xfrm>
            <a:off x="5806440" y="13716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14813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13716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并发测试 ConcurrentOrderTest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1965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个买家同时抢购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25511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同一件商品，线程池并发提交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834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 人成功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3419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其余 9 人返回 409 Conflict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3703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轮重复全部通过</a:t>
            </a:r>
            <a:endParaRPr lang="en-US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5806440" y="4288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每轮只产生 1 个有效订单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系统设计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商品与订单状态机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995333" y="1143000"/>
            <a:ext cx="3129974" cy="3246120"/>
          </a:xfrm>
          <a:prstGeom prst="roundRect">
            <a:avLst>
              <a:gd name="adj" fmla="val 233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state-go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485" y="1216152"/>
            <a:ext cx="2983670" cy="30998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425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商品状态图（6 种状态）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5185494" y="1143000"/>
            <a:ext cx="3253571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state-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46" y="1216152"/>
            <a:ext cx="3107267" cy="309981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37760" y="4425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订单状态图（4 种状态，联动商品状态）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项目结构与开发规模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campus-market/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src/main/java/com/campus/market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controller   REST 接口（含 admin）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service      业务规则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repository   Spring Data JPA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entity / dto 实体与数据传输对象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security     JWT + 拦截器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init         演示数据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src/main/resources/static  Vue3 前端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src/test/java   单元 / 集成 / 并发测试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e2e             端到端系统测试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docs            文档、设计图、截图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-badge-FaJava"/>
          <p:cNvSpPr/>
          <p:nvPr/>
        </p:nvSpPr>
        <p:spPr>
          <a:xfrm>
            <a:off x="6080760" y="132588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0" descr="FaJa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628" y="1412748"/>
            <a:ext cx="173736" cy="1737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28032" y="1234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3407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行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4828032" y="1819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后端 Java（73 个文件）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720840" y="118872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con-badge-FaVuejs"/>
          <p:cNvSpPr/>
          <p:nvPr/>
        </p:nvSpPr>
        <p:spPr>
          <a:xfrm>
            <a:off x="8138160" y="132588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1" descr="FaVuej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028" y="1412748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85432" y="1234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2796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行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6885432" y="1819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前端代码（23 个模块）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4663440" y="237744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-badge-FaVial"/>
          <p:cNvSpPr/>
          <p:nvPr/>
        </p:nvSpPr>
        <p:spPr>
          <a:xfrm>
            <a:off x="6080760" y="251460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2" descr="FaVi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8" y="2601468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28032" y="2423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2133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行</a:t>
            </a:r>
            <a:endParaRPr lang="en-US" sz="3200" dirty="0"/>
          </a:p>
        </p:txBody>
      </p:sp>
      <p:sp>
        <p:nvSpPr>
          <p:cNvPr id="21" name="Text 15"/>
          <p:cNvSpPr txBox="1"/>
          <p:nvPr/>
        </p:nvSpPr>
        <p:spPr>
          <a:xfrm>
            <a:off x="4828032" y="3008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测试代码（16 个文件）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6720840" y="237744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-badge-FaPlug"/>
          <p:cNvSpPr/>
          <p:nvPr/>
        </p:nvSpPr>
        <p:spPr>
          <a:xfrm>
            <a:off x="8138160" y="251460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3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2601468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85432" y="2423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35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个</a:t>
            </a:r>
            <a:endParaRPr lang="en-US" sz="3200" dirty="0"/>
          </a:p>
        </p:txBody>
      </p:sp>
      <p:sp>
        <p:nvSpPr>
          <p:cNvPr id="26" name="Text 19"/>
          <p:cNvSpPr txBox="1"/>
          <p:nvPr/>
        </p:nvSpPr>
        <p:spPr>
          <a:xfrm>
            <a:off x="6885432" y="3008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REST 接口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4663440" y="356616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icon-badge-FaDiagramProject"/>
          <p:cNvSpPr/>
          <p:nvPr/>
        </p:nvSpPr>
        <p:spPr>
          <a:xfrm>
            <a:off x="6080760" y="370332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9" name="Image 4" descr="FaDiagramProjec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628" y="3790188"/>
            <a:ext cx="173736" cy="17373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828032" y="3611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14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张</a:t>
            </a:r>
            <a:endParaRPr lang="en-US" sz="3200" dirty="0"/>
          </a:p>
        </p:txBody>
      </p:sp>
      <p:sp>
        <p:nvSpPr>
          <p:cNvPr id="31" name="Text 23"/>
          <p:cNvSpPr txBox="1"/>
          <p:nvPr/>
        </p:nvSpPr>
        <p:spPr>
          <a:xfrm>
            <a:off x="4828032" y="4197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UML / 架构 / E-R 设计图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6720840" y="356616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icon-badge-FaWindowMaximize"/>
          <p:cNvSpPr/>
          <p:nvPr/>
        </p:nvSpPr>
        <p:spPr>
          <a:xfrm>
            <a:off x="8138160" y="3703320"/>
            <a:ext cx="347472" cy="34747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4" name="Image 5" descr="FaWindowMaximiz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028" y="3790188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885432" y="3611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个</a:t>
            </a:r>
            <a:endParaRPr lang="en-US" sz="3200" dirty="0"/>
          </a:p>
        </p:txBody>
      </p:sp>
      <p:sp>
        <p:nvSpPr>
          <p:cNvPr id="36" name="Text 27"/>
          <p:cNvSpPr txBox="1"/>
          <p:nvPr/>
        </p:nvSpPr>
        <p:spPr>
          <a:xfrm>
            <a:off x="6885432" y="4197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前端页面与子页面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界面展示 ①：首页浏览与搜索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697687" y="1188720"/>
            <a:ext cx="4959706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61872"/>
            <a:ext cx="4813402" cy="3008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982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首页：分类导航、排序、价格筛选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6172200" y="1188720"/>
            <a:ext cx="2514600" cy="1626489"/>
          </a:xfrm>
          <a:prstGeom prst="roundRect">
            <a:avLst>
              <a:gd name="adj" fmla="val 449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03-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2368296" cy="14801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72200" y="285178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关键词搜索结果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3244977"/>
            <a:ext cx="25146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游客无需登录即可浏览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标题 / 描述模糊搜索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最新、最热、价格排序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界面展示 ②：商品详情与下单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3486607" y="1188720"/>
            <a:ext cx="4959706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04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759" y="1261872"/>
            <a:ext cx="4813402" cy="3008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46120" y="43982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商品详情：图片、价格、卖家、留言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457200" y="1188720"/>
            <a:ext cx="2514600" cy="1626489"/>
          </a:xfrm>
          <a:prstGeom prst="roundRect">
            <a:avLst>
              <a:gd name="adj" fmla="val 449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13-buy-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2368296" cy="14801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285178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下单确认：给卖家留言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3244977"/>
            <a:ext cx="25146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收藏、留言与回复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交易中商品不可再下单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平台不涉及线上支付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界面展示 ③：发布闲置与我的发布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697687" y="1188720"/>
            <a:ext cx="4959706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07-pub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61872"/>
            <a:ext cx="4813402" cy="3008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982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发布商品：图片上传与表单校验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6172200" y="1188720"/>
            <a:ext cx="2514600" cy="1626489"/>
          </a:xfrm>
          <a:prstGeom prst="roundRect">
            <a:avLst>
              <a:gd name="adj" fmla="val 449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08-my-goo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2368296" cy="14801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72200" y="285178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我的发布：按状态管理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3244977"/>
            <a:ext cx="25146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最多 6 张图片，校验文件头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前后端双重表单校验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编辑后需重新审核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界面展示 ④：订单流转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3486607" y="1188720"/>
            <a:ext cx="4959706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14-sold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759" y="1261872"/>
            <a:ext cx="4813402" cy="3008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46120" y="43982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我卖出的：确认订单后显示买家联系方式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457200" y="1188720"/>
            <a:ext cx="2514600" cy="1626489"/>
          </a:xfrm>
          <a:prstGeom prst="roundRect">
            <a:avLst>
              <a:gd name="adj" fmla="val 449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15-bought-or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2368296" cy="14801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285178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我买到的：确认收货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3244977"/>
            <a:ext cx="25146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订单保存商品快照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双方可见联系电话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取消后商品自动恢复在售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系统实现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界面展示 ⑤：管理后台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697687" y="1188720"/>
            <a:ext cx="4959706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09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61872"/>
            <a:ext cx="4813402" cy="3008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982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数据概览：统计卡片与 ECharts 图表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6172200" y="1188720"/>
            <a:ext cx="2514600" cy="1626489"/>
          </a:xfrm>
          <a:prstGeom prst="roundRect">
            <a:avLst>
              <a:gd name="adj" fmla="val 449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10-admin-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2368296" cy="14801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72200" y="285178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商品审核：通过 / 驳回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3244977"/>
            <a:ext cx="25146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近 7 天下单趋势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违规商品强制下架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封禁用户、管理分类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软件测试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测试策略：三层测试金字塔</a:t>
            </a:r>
            <a:endParaRPr lang="en-US" sz="2600" dirty="0"/>
          </a:p>
        </p:txBody>
      </p:sp>
      <p:sp>
        <p:nvSpPr>
          <p:cNvPr id="5" name="pyramid-0"/>
          <p:cNvSpPr/>
          <p:nvPr/>
        </p:nvSpPr>
        <p:spPr>
          <a:xfrm>
            <a:off x="1554480" y="1234440"/>
            <a:ext cx="228600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1234440"/>
            <a:ext cx="22860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端到端系统测试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7ED"/>
                </a:solidFill>
              </a:rPr>
              <a:t>27 个 · Playwright</a:t>
            </a:r>
            <a:endParaRPr lang="en-US" sz="1400" dirty="0"/>
          </a:p>
        </p:txBody>
      </p:sp>
      <p:sp>
        <p:nvSpPr>
          <p:cNvPr id="7" name="pyramid-1"/>
          <p:cNvSpPr/>
          <p:nvPr/>
        </p:nvSpPr>
        <p:spPr>
          <a:xfrm>
            <a:off x="1051560" y="2350008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2350008"/>
            <a:ext cx="32918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接口集成 + 并发测试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7ED"/>
                </a:solidFill>
              </a:rPr>
              <a:t>27 + 5 个 · SpringBootTest · MockMvc · H2</a:t>
            </a:r>
            <a:endParaRPr lang="en-US" sz="1400" dirty="0"/>
          </a:p>
        </p:txBody>
      </p:sp>
      <p:sp>
        <p:nvSpPr>
          <p:cNvPr id="9" name="pyramid-2"/>
          <p:cNvSpPr/>
          <p:nvPr/>
        </p:nvSpPr>
        <p:spPr>
          <a:xfrm>
            <a:off x="548640" y="3465576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465576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单元测试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76 个 · JUnit 5 · Mockito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120640" y="123444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49240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108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次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9110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自动化测试执行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100%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19110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通过率（0 失败）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24048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84.2%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9900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行覆盖率（业务层 97.4%）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4048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80.1%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9900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分支覆盖率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34838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27/27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4069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系统测试用例通过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软件测试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覆盖率分析（JaCoCo）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937760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48640" y="123444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"/>
          <p:cNvSpPr/>
          <p:nvPr/>
        </p:nvSpPr>
        <p:spPr>
          <a:xfrm>
            <a:off x="5623560" y="1188720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760720" y="12618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84.2%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12618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整体行覆盖率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814/967 行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623560" y="2075688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760720" y="2148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80.1%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148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分支覆盖率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覆盖主要异常分支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5623560" y="2962656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760720" y="303580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93.3%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方法覆盖率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623560" y="3849624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760720" y="392277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97.2%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7040880" y="392277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不含 init 包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演示数据初始化未参与测试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软件测试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缺陷跟踪：发现 7 个，全部修复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914400"/>
                <a:gridCol w="274320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缺陷描述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修复措施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时间字段返回带纳秒的 ISO 格式，前端显示不友好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集成联调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JacksonConfig 统一为 yyyy-MM-dd HH:mm:ss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pom.xml 注释中含“--”，Maven 无法解析 POM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修改注释内容，构建恢复正常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上传目录映射缺少结尾“/”，启动时告警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WebConfig 自动补全路径结尾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浏览商品时修改实体浏览量，可能误刷新更新时间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代码评审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原子 SQL 递增 + 列设为不可更新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下单趋势折线平滑插值，0 值日期出现负向下探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关闭平滑插值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统计卡片 5+1 折行、注册时间列换行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调整栅格最小宽度和列宽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BUG-07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系统测试脚本读到旧数据导致 ST-03/04 误报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改为等待接口响应后再断言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总结展望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项目进度安排</a:t>
            </a:r>
            <a:endParaRPr lang="en-US" sz="2600" dirty="0"/>
          </a:p>
        </p:txBody>
      </p:sp>
      <p:sp>
        <p:nvSpPr>
          <p:cNvPr id="5" name="frame"/>
          <p:cNvSpPr/>
          <p:nvPr/>
        </p:nvSpPr>
        <p:spPr>
          <a:xfrm>
            <a:off x="1359435" y="1188720"/>
            <a:ext cx="6425131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87" y="1261872"/>
            <a:ext cx="6278827" cy="33741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总结展望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总结与展望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完成情况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60020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-badge-FaCheck"/>
          <p:cNvSpPr/>
          <p:nvPr/>
        </p:nvSpPr>
        <p:spPr>
          <a:xfrm>
            <a:off x="594360" y="172821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824228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6367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功能完整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大模块全部实现，35 个 REST 接口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2350008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-badge-FaCheck"/>
          <p:cNvSpPr/>
          <p:nvPr/>
        </p:nvSpPr>
        <p:spPr>
          <a:xfrm>
            <a:off x="594360" y="247802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7403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3865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测试充分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自动化 108 次 + 系统测试 27 个，全部通过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3099816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-badge-FaCheck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323844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1363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文档齐全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计划、需求、设计、实施、测试 5 份文档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849624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badge-FaCheck"/>
          <p:cNvSpPr/>
          <p:nvPr/>
        </p:nvSpPr>
        <p:spPr>
          <a:xfrm>
            <a:off x="594360" y="3977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073652"/>
            <a:ext cx="192024" cy="1920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886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部署简单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H2 零配置，可切换 MySQL，单 jar 启动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改进方向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4754880" y="160020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-badge-FaCreditCard"/>
          <p:cNvSpPr/>
          <p:nvPr/>
        </p:nvSpPr>
        <p:spPr>
          <a:xfrm>
            <a:off x="4892040" y="18196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FaCreditC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1924812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94960" y="16733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在线支付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担保交易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6766560" y="160020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icon-badge-FaComments"/>
          <p:cNvSpPr/>
          <p:nvPr/>
        </p:nvSpPr>
        <p:spPr>
          <a:xfrm>
            <a:off x="6903720" y="18196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FaCommen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76" y="1924812"/>
            <a:ext cx="210312" cy="2103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406640" y="16733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即时聊天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WebSocket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754880" y="26060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icon-badge-FaBell"/>
          <p:cNvSpPr/>
          <p:nvPr/>
        </p:nvSpPr>
        <p:spPr>
          <a:xfrm>
            <a:off x="4892040" y="28254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6" descr="FaBe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196" y="2930652"/>
            <a:ext cx="210312" cy="21031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94960" y="26791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消息通知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订单状态提醒</a:t>
            </a:r>
            <a:endParaRPr 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6766560" y="26060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icon-badge-FaWandMagicSparkles"/>
          <p:cNvSpPr/>
          <p:nvPr/>
        </p:nvSpPr>
        <p:spPr>
          <a:xfrm>
            <a:off x="6903720" y="28254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7" descr="FaWandMagicSparkl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8876" y="2930652"/>
            <a:ext cx="210312" cy="21031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406640" y="26791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智能推荐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基于浏览 / 收藏</a:t>
            </a:r>
            <a:endParaRPr lang="en-US" sz="1300" dirty="0"/>
          </a:p>
        </p:txBody>
      </p:sp>
      <p:sp>
        <p:nvSpPr>
          <p:cNvPr id="39" name="card"/>
          <p:cNvSpPr/>
          <p:nvPr/>
        </p:nvSpPr>
        <p:spPr>
          <a:xfrm>
            <a:off x="4754880" y="36118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icon-badge-FaCloud"/>
          <p:cNvSpPr/>
          <p:nvPr/>
        </p:nvSpPr>
        <p:spPr>
          <a:xfrm>
            <a:off x="4892040" y="38313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8" descr="FaClou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196" y="3936492"/>
            <a:ext cx="210312" cy="21031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394960" y="36850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云端部署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Docker 容器化</a:t>
            </a:r>
            <a:endParaRPr lang="en-US" sz="1300" dirty="0"/>
          </a:p>
        </p:txBody>
      </p:sp>
      <p:sp>
        <p:nvSpPr>
          <p:cNvPr id="43" name="card"/>
          <p:cNvSpPr/>
          <p:nvPr/>
        </p:nvSpPr>
        <p:spPr>
          <a:xfrm>
            <a:off x="6766560" y="36118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icon-badge-FaMobileScreen"/>
          <p:cNvSpPr/>
          <p:nvPr/>
        </p:nvSpPr>
        <p:spPr>
          <a:xfrm>
            <a:off x="6903720" y="38313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9" descr="FaMobileScree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8876" y="3936492"/>
            <a:ext cx="210312" cy="21031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406640" y="36850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移动端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小程序 / H5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感谢聆听，敬请指正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Q &amp; 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演示账号：管理员 admin / admin123   ·   学生 zhangsan / 123456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项目地址：https://github.com/lifan-777/chat666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Market">
  <a:themeElements>
    <a:clrScheme name="Campus Market">
      <a:dk1>
        <a:srgbClr val="1F2937"/>
      </a:dk1>
      <a:lt1>
        <a:srgbClr val="FFFFFF"/>
      </a:lt1>
      <a:dk2>
        <a:srgbClr val="4B5563"/>
      </a:dk2>
      <a:lt2>
        <a:srgbClr val="F4F5F7"/>
      </a:lt2>
      <a:accent1>
        <a:srgbClr val="F97316"/>
      </a:accent1>
      <a:accent2>
        <a:srgbClr val="FDBA74"/>
      </a:accent2>
      <a:accent3>
        <a:srgbClr val="10B981"/>
      </a:accent3>
      <a:accent4>
        <a:srgbClr val="3B82F6"/>
      </a:accent4>
      <a:accent5>
        <a:srgbClr val="8B5CF6"/>
      </a:accent5>
      <a:accent6>
        <a:srgbClr val="EC4899"/>
      </a:accent6>
      <a:hlink>
        <a:srgbClr val="EA580C"/>
      </a:hlink>
      <a:folHlink>
        <a:srgbClr val="9A341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校园二手交易平台 答辩演示</dc:title>
  <dc:subject>软件工程课程设计答辩</dc:subject>
  <dc:creator>李帆</dc:creator>
  <cp:lastModifiedBy>李帆</cp:lastModifiedBy>
  <cp:revision>1</cp:revision>
  <dcterms:created xsi:type="dcterms:W3CDTF">2026-10-26T11:00:21Z</dcterms:created>
  <dcterms:modified xsi:type="dcterms:W3CDTF">2026-10-26T11:00:21Z</dcterms:modified>
</cp:coreProperties>
</file>