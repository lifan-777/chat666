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charts/chart1.xml" ContentType="application/vnd.openxmlformats-officedocument.drawingml.chart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</p:sldIdLst>
  <p:notesMasterIdLst>
    <p:notesMasterId r:id="rId25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封面" id="{cd64ce53-dc84-2e15-868b-d5b09a381780}">
          <p14:sldIdLst>
            <p14:sldId id="256"/>
          </p14:sldIdLst>
        </p14:section>
        <p14:section name="目录" id="{c0a3d7b3-0240-deda-8f4f-529891d5181f}">
          <p14:sldIdLst>
            <p14:sldId id="257"/>
          </p14:sldIdLst>
        </p14:section>
        <p14:section name="项目背景" id="{23943169-ae85-d58a-d2c2-6ebc205b988e}">
          <p14:sldIdLst>
            <p14:sldId id="258"/>
          </p14:sldIdLst>
        </p14:section>
        <p14:section name="需求分析" id="{a1eca6e2-8125-9bb1-7b9b-410441d45c1c}">
          <p14:sldIdLst>
            <p14:sldId id="259"/>
            <p14:sldId id="260"/>
            <p14:sldId id="261"/>
          </p14:sldIdLst>
        </p14:section>
        <p14:section name="系统设计" id="{6451e2e5-8944-c460-fb86-2bb611b1e958}">
          <p14:sldIdLst>
            <p14:sldId id="262"/>
            <p14:sldId id="263"/>
            <p14:sldId id="264"/>
            <p14:sldId id="265"/>
            <p14:sldId id="266"/>
          </p14:sldIdLst>
        </p14:section>
        <p14:section name="系统实现" id="{7d07dc81-f8a4-0cae-2128-e496a40da9d1}">
          <p14:sldIdLst>
            <p14:sldId id="267"/>
            <p14:sldId id="268"/>
            <p14:sldId id="269"/>
            <p14:sldId id="270"/>
            <p14:sldId id="271"/>
            <p14:sldId id="272"/>
          </p14:sldIdLst>
        </p14:section>
        <p14:section name="软件测试" id="{9fa8e19b-ae14-1cf1-80b4-fa947474bec3}">
          <p14:sldIdLst>
            <p14:sldId id="273"/>
            <p14:sldId id="274"/>
            <p14:sldId id="275"/>
          </p14:sldIdLst>
        </p14:section>
        <p14:section name="总结展望" id="{03bb4438-cf29-d8b8-aa70-57bb48b31be2}">
          <p14:sldIdLst>
            <p14:sldId id="276"/>
            <p14:sldId id="277"/>
            <p14:sldId id="278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notesMaster" Target="notesMasters/notesMaster1.xml"/><Relationship Id="rId26" Type="http://schemas.openxmlformats.org/officeDocument/2006/relationships/presProps" Target="presProps.xml"/><Relationship Id="rId27" Type="http://schemas.openxmlformats.org/officeDocument/2006/relationships/viewProps" Target="viewProps.xml"/><Relationship Id="rId28" Type="http://schemas.openxmlformats.org/officeDocument/2006/relationships/theme" Target="theme/theme1.xml"/><Relationship Id="rId29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1F2937"/>
                </a:solidFill>
                <a:latin typeface="+mn-lt"/>
              </a:defRPr>
            </a:pPr>
            <a:r>
              <a:rPr sz="1200" b="0" i="0" u="none" strike="noStrike">
                <a:solidFill>
                  <a:srgbClr val="1F2937"/>
                </a:solidFill>
                <a:latin typeface="+mn-lt"/>
              </a:rPr>
              <a:t>各包行覆盖率（%）</a:t>
            </a:r>
          </a:p>
        </c:rich>
      </c:tx>
      <c:layout/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行覆盖率</c:v>
                </c:pt>
              </c:strCache>
            </c:strRef>
          </c:tx>
          <c:spPr>
            <a:solidFill>
              <a:srgbClr val="F97316"/>
            </a:solidFill>
            <a:effectLst/>
          </c:spPr>
          <c:invertIfNegative val="0"/>
          <c:dLbls>
            <c:numFmt formatCode="0.0&quot;%&quot;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4B5563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Sheet1!$A$2:$A$9</c:f>
              <c:multiLvlStrCache>
                <c:ptCount val="8"/>
                <c:lvl>
                  <c:pt idx="0">
                    <c:v>controller.admin</c:v>
                  </c:pt>
                  <c:pt idx="1">
                    <c:v>dto</c:v>
                  </c:pt>
                  <c:pt idx="2">
                    <c:v>entity</c:v>
                  </c:pt>
                  <c:pt idx="3">
                    <c:v>controller</c:v>
                  </c:pt>
                  <c:pt idx="4">
                    <c:v>security</c:v>
                  </c:pt>
                  <c:pt idx="5">
                    <c:v>service</c:v>
                  </c:pt>
                  <c:pt idx="6">
                    <c:v>config</c:v>
                  </c:pt>
                  <c:pt idx="7">
                    <c:v>common</c:v>
                  </c:pt>
                </c:lvl>
              </c:multiLvlStrCache>
            </c:multiLvl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100</c:v>
                </c:pt>
                <c:pt idx="1">
                  <c:v>100</c:v>
                </c:pt>
                <c:pt idx="2">
                  <c:v>98.5</c:v>
                </c:pt>
                <c:pt idx="3">
                  <c:v>98.3</c:v>
                </c:pt>
                <c:pt idx="4">
                  <c:v>98.1</c:v>
                </c:pt>
                <c:pt idx="5">
                  <c:v>97.4</c:v>
                </c:pt>
                <c:pt idx="6">
                  <c:v>94.7</c:v>
                </c:pt>
                <c:pt idx="7">
                  <c:v>85.3</c:v>
                </c:pt>
              </c:numCache>
            </c:numRef>
          </c:val>
        </c:ser>
        <c:dLbls>
          <c:numFmt formatCode="0.0&quot;%&quot;" sourceLinked="0"/>
          <c:txPr>
            <a:bodyPr/>
            <a:lstStyle/>
            <a:p>
              <a:pPr>
                <a:defRPr b="0" i="0" strike="noStrike" sz="1000" u="none">
                  <a:solidFill>
                    <a:srgbClr val="4B5563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4B5563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10"/>
          <c:min val="0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各位老师好，我汇报的题目是“校园二手交易平台”。这是一个面向在校学生的闲置物品交易系统，采用 Spring Boot + Vue3 前后端分离架构实现，完整经历了需求分析、设计、实现和测试四个阶段。下面我按目录依次介绍。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本次汇报分为六个部分：项目背景、需求分析、系统设计、系统实现、软件测试，最后是总结与展望。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先说背景。每到毕业季和开学季，校园里有大量教材、电子产品、生活用品需要转手，但现在主要靠 QQ 群、表白墙发布，信息零散、难以检索，交易双方互不认识也缺乏信任，很多东西最后被丢弃。因此我们的目标是做一个只服务本校学生的交易平台：商品集中展示、可以搜索筛选；商品上架前由管理员审核；交易采用同校当面验货、线下交付的方式，平台只负责撮合和记录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需求分析阶段我们识别出三类用户：游客、注册用户和管理员，其中注册用户同时可以是买家和卖家。按业务把系统划分为五个模块：用户模块负责注册登录和个人资料；商品模块负责发布、编辑、上下架和搜索；交易模块负责下单、确认、收货和取消；互动模块包括收藏和留言；后台管理模块包括审核、用户管理、分类管理和数据统计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这是系统的用例图。左边是游客和普通用户的公共功能和个人功能，中间是买家、卖家各自的用例，下方是管理员的后台用例。其中“发布商品”包含“上传商品图片”，“浏览搜索商品”可以扩展“筛选与排序”。每个用例在需求规格说明书中都有详细的用例描述，包括前置条件、基本流程和异常流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核心业务流程分六步：卖家发布商品后进入待审核；管理员审核通过才会上架；买家看中后下单，商品立即锁定为交易中；卖家确认订单后双方可以看到对方的联系电话，约定时间地点当面验货；最后买家确认收货，订单完成、商品标记为已售出。在完成之前，买卖双方都可以取消订单，商品会自动恢复在售。右边是对应的活动图，包含了不可购买、被抢先下单等分支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系统采用前后端分离的 B/S 架构。前端是 Vue3 单页应用，用 Element Plus 组件库、Vue Router 路由、Axios 调用接口、ECharts 画统计图，所有第三方库都放在本地，断网也能演示。后端是 Spring Boot 3.5 分层架构：拦截器做认证鉴权，Controller 接收请求，Service 实现业务规则，Repository 用 Spring Data JPA 访问数据库。数据库默认用内嵌 H2，零配置运行，改一个配置就能切换到 MySQL。前后端通过 REST + JSON 通信，共 35 个接口。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数据库共 7 张表。users 存储用户和角色；category 是商品分类；goods 是核心的商品表，记录价格、成色、状态和浏览量；goods_image 保存商品的多张图片；favorite 是收藏表，用户和商品联合唯一；comment 是留言表，支持回复某个用户；trade_order 是订单表，下单时保存商品标题、图片和价格的快照，卖家之后修改商品也不会影响历史订单。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第一个关键设计是认证授权。用户登录时后端用 BCrypt 校验密码，成功后签发一个 JWT 令牌，令牌里只保存用户 ID。之后每个请求在请求头携带 Bearer Token，由统一的拦截器解析令牌，并且每次都重新查询一次用户，这样管理员封禁账号可以立即生效。接口默认需要登录，标注了 @PublicApi 的接口游客也能访问；/api/admin 开头的接口只允许管理员访问，越权会返回 403。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第二个关键设计是防止超卖。二手商品只有一件，如果两个人同时下单，传统的“先查询再更新”会出现两个人都下单成功的问题。我们的做法是把检查和修改合成一条带条件的 UPDATE 语句：只有当商品状态还是“在售”时才改为“交易中”，数据库保证这一步是原子的。返回 1 行说明抢到了，返回 0 行说明已被别人抢先，直接返回 409。我们专门写了并发测试：10 个买家线程同时抢同一件商品，重复 5 轮，每轮都只有 1 人成功，其余 9 人收到 409。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商品和订单都用状态机来管理。商品有六种状态：待审核、在售、审核未通过、交易中、已售出、已下架，每个状态允许哪些操作在 Service 层用枚举集合严格校验，比如交易中和已售出的商品不能编辑。订单有四种状态：待卖家确认、待交易、已完成、已取消，订单状态的变化会联动商品状态：下单时商品变为交易中，取消时恢复在售，确认收货时变为已售出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实现阶段，后端共 73 个 Java 源文件约 3407 行，按 controller、service、repository、entity、dto、security 等包分层；前端 23 个 JS 模块约 2796 行（含样式）；测试代码 16 个文件约 2133 行。项目首次启动会自动写入演示数据，包括 6 个用户、7 个分类、18 件商品和若干订单，方便直接体验。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首页顶部是搜索框和发布入口，下面是分类导航、排序方式和价格区间筛选，商品以卡片形式展示价格、成色、卖家和浏览量。右边是关键词搜索的结果页。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商品详情页展示大图、价格和原价、成色、交易地点、浏览和收藏数，下方是留言区，买家可以咨询，卖家可以回复。点击“我想要”弹出下单确认框，可以给卖家留言约定时间。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发布页支持最多 6 张图片上传，前后端双重校验图片格式和大小，表单有必填和格式校验。发布后进入“我发布的”，可以按状态筛选，看到审核结果和驳回原因，并进行编辑、下架、重新上架。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订单分为“我卖出的”和“我买到的”。卖家确认订单后，双方都能看到对方的联系电话，线下交易完成后由买家确认收货。每个订单都显示订单号、商品快照和买家留言。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管理后台的数据概览页用统计卡片和 ECharts 展示用户数、商品数、成交额、近 7 天下单趋势、分类分布和商品状态。商品审核页按提交时间排列待审核商品，可以查看详情后通过或驳回。另外还有商品管理、用户封禁和分类管理页面。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测试按金字塔分三层。底层是 76 个单元测试，用 Mockito 隔离数据库，覆盖每个 Service 的业务规则和异常分支；中间是 27 个接口集成测试和 5 轮并发测试，用 MockMvc 加真实的 H2 数据库，验证鉴权、参数校验和完整交易流程；顶层是 27 个端到端系统测试，用 Playwright 驱动真实浏览器模拟用户操作。自动化测试共 108 次执行，全部通过，系统测试 27/27 通过。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JaCoCo 统计的整体行覆盖率是 84.2%，分支覆盖率 80.1%，方法覆盖率 93.3%。左图是各个包的行覆盖率，核心的 service 包达到 97.4%。整体数字被 init 包拉低了：它只负责写入演示数据，在测试环境中是关闭的；去掉它之后行覆盖率为 97.2%。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开发和测试过程中一共记录了 7 个缺陷，覆盖构建、接口、后端逻辑、前端界面和测试脚本，都已经修复并通过回归测试。比较典型的是浏览量统计：最初的实现会修改商品实体，可能顺带刷新商品的更新时间，我们改成数据库原子递增，并把该列设为不可通过实体更新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项目从 9 月 18 日开始，历时约 6 周：第一周需求分析并评审，第二周完成概要和详细设计，随后前后端并行编码约两周半，测试和编码后期重叠进行，最后半周整理文档、准备答辩。四个里程碑分别是需求评审、设计评审、系统提测和项目验收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总结一下：我们按软件工程流程完成了需求、设计、实现和测试，交付了一个功能完整、可以一键运行的系统，以及配套的五份文档。通过这个项目，我们实践了分层架构、RESTful 接口设计、并发控制和自动化测试。不足之处在于目前只支持线下交易，后续计划接入在线支付和担保交易、增加买卖双方即时聊天和消息通知、根据浏览和收藏做个性化推荐，并使用 Docker 部署到云服务器。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我的汇报到这里结束，谢谢各位老师。现场可以用演示账号登录系统进行演示，欢迎老师提问。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solidFill>
          <a:srgbClr val="1F293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1325880"/>
            <a:ext cx="4754880" cy="8229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457200" y="2148840"/>
            <a:ext cx="4754880" cy="4572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800" dirty="0">
                <a:solidFill>
                  <a:schemeClr val="accent2"/>
                </a:solidFill>
              </a:defRPr>
            </a:lvl1pPr>
          </a:lstStyle>
          <a:p>
            <a:pPr algn="l" indent="0" marL="0">
              <a:buNone/>
            </a:pPr>
            <a:endParaRPr lang="en-US" sz="18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4F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457200" y="201168"/>
            <a:ext cx="5486400" cy="256032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100" b="1" dirty="0">
                <a:solidFill>
                  <a:schemeClr val="accent1"/>
                </a:solidFill>
              </a:defRPr>
            </a:lvl1pPr>
          </a:lstStyle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457200" y="457200"/>
            <a:ext cx="8229600" cy="566928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600" b="1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2600" dirty="0"/>
          </a:p>
        </p:txBody>
      </p:sp>
      <p:sp>
        <p:nvSpPr>
          <p:cNvPr id="4" name="Text 0"/>
          <p:cNvSpPr/>
          <p:nvPr/>
        </p:nvSpPr>
        <p:spPr>
          <a:xfrm>
            <a:off x="457200" y="4818888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</a:rPr>
              <a:t>校园二手交易平台 · 软件工程课程设计答辩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138160" y="4818888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rgbClr val="6B728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LOSING">
    <p:bg>
      <p:bgPr>
        <a:solidFill>
          <a:srgbClr val="1F293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1554480"/>
            <a:ext cx="8229600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4400" b="1" dirty="0">
                <a:solidFill>
                  <a:schemeClr val="bg1"/>
                </a:solidFill>
              </a:defRPr>
            </a:lvl1pPr>
          </a:lstStyle>
          <a:p>
            <a:pPr algn="ctr" indent="0" marL="0">
              <a:buNone/>
            </a:pPr>
            <a:endParaRPr lang="en-US" sz="44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457200" y="2514600"/>
            <a:ext cx="8229600" cy="4572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800" dirty="0">
                <a:solidFill>
                  <a:schemeClr val="accent2"/>
                </a:solidFill>
              </a:defRPr>
            </a:lvl1pPr>
          </a:lstStyle>
          <a:p>
            <a:pPr algn="ctr" indent="0" marL="0">
              <a:buNone/>
            </a:pPr>
            <a:endParaRPr lang="en-US" sz="1800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138160" y="4818888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rgbClr val="6B728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2-5.png"/><Relationship Id="rId6" Type="http://schemas.openxmlformats.org/officeDocument/2006/relationships/image" Target="../media/image-2-6.png"/><Relationship Id="rId7" Type="http://schemas.openxmlformats.org/officeDocument/2006/relationships/slideLayout" Target="../slideLayouts/slideLayout3.xml"/><Relationship Id="rId8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image" Target="../media/image-3-5.png"/><Relationship Id="rId6" Type="http://schemas.openxmlformats.org/officeDocument/2006/relationships/image" Target="../media/image-3-6.png"/><Relationship Id="rId7" Type="http://schemas.openxmlformats.org/officeDocument/2006/relationships/image" Target="../media/image-3-7.png"/><Relationship Id="rId8" Type="http://schemas.openxmlformats.org/officeDocument/2006/relationships/slideLayout" Target="../slideLayouts/slideLayout3.xml"/><Relationship Id="rId9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slideLayout" Target="../slideLayouts/slideLayout3.xml"/><Relationship Id="rId6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image" Target="../media/image-5-5.png"/><Relationship Id="rId6" Type="http://schemas.openxmlformats.org/officeDocument/2006/relationships/slideLayout" Target="../slideLayouts/slideLayout3.xml"/><Relationship Id="rId7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image" Target="../media/image-7-4.png"/><Relationship Id="rId5" Type="http://schemas.openxmlformats.org/officeDocument/2006/relationships/image" Target="../media/image-7-5.png"/><Relationship Id="rId6" Type="http://schemas.openxmlformats.org/officeDocument/2006/relationships/slideLayout" Target="../slideLayouts/slideLayout3.xml"/><Relationship Id="rId7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image" Target="../media/image-9-4.png"/><Relationship Id="rId5" Type="http://schemas.openxmlformats.org/officeDocument/2006/relationships/image" Target="../media/image-9-5.png"/><Relationship Id="rId6" Type="http://schemas.openxmlformats.org/officeDocument/2006/relationships/slideLayout" Target="../slideLayouts/slideLayout3.xml"/><Relationship Id="rId7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image" Target="../media/image-12-4.png"/><Relationship Id="rId5" Type="http://schemas.openxmlformats.org/officeDocument/2006/relationships/image" Target="../media/image-12-5.png"/><Relationship Id="rId6" Type="http://schemas.openxmlformats.org/officeDocument/2006/relationships/image" Target="../media/image-12-6.png"/><Relationship Id="rId7" Type="http://schemas.openxmlformats.org/officeDocument/2006/relationships/slideLayout" Target="../slideLayouts/slideLayout3.xml"/><Relationship Id="rId8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15-2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16-2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image" Target="../media/image-17-2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image" Target="../media/image-22-2.png"/><Relationship Id="rId3" Type="http://schemas.openxmlformats.org/officeDocument/2006/relationships/image" Target="../media/image-22-3.png"/><Relationship Id="rId4" Type="http://schemas.openxmlformats.org/officeDocument/2006/relationships/image" Target="../media/image-22-4.png"/><Relationship Id="rId5" Type="http://schemas.openxmlformats.org/officeDocument/2006/relationships/image" Target="../media/image-22-5.png"/><Relationship Id="rId6" Type="http://schemas.openxmlformats.org/officeDocument/2006/relationships/image" Target="../media/image-22-6.png"/><Relationship Id="rId7" Type="http://schemas.openxmlformats.org/officeDocument/2006/relationships/image" Target="../media/image-22-7.png"/><Relationship Id="rId8" Type="http://schemas.openxmlformats.org/officeDocument/2006/relationships/image" Target="../media/image-22-8.png"/><Relationship Id="rId9" Type="http://schemas.openxmlformats.org/officeDocument/2006/relationships/image" Target="../media/image-22-9.png"/><Relationship Id="rId10" Type="http://schemas.openxmlformats.org/officeDocument/2006/relationships/image" Target="../media/image-22-10.png"/><Relationship Id="rId11" Type="http://schemas.openxmlformats.org/officeDocument/2006/relationships/slideLayout" Target="../slideLayouts/slideLayout3.xml"/><Relationship Id="rId1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1325880"/>
            <a:ext cx="47548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chemeClr val="bg1"/>
                </a:solidFill>
              </a:rPr>
              <a:t>校园二手交易平台</a:t>
            </a:r>
            <a:endParaRPr lang="en-US" sz="4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457200" y="2148840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chemeClr val="accent2"/>
                </a:solidFill>
              </a:rPr>
              <a:t>软件工程课程设计答辩</a:t>
            </a:r>
            <a:endParaRPr lang="en-US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868680"/>
            <a:ext cx="4754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D1D5DB"/>
                </a:solidFill>
              </a:rPr>
              <a:t>Campus Market  ·  校园闲置物品交易系统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2834640"/>
            <a:ext cx="384048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E5E7EB"/>
                </a:solidFill>
              </a:rPr>
              <a:t>姓名：李帆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E5E7EB"/>
                </a:solidFill>
              </a:rPr>
              <a:t>学号：2412190102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E5E7EB"/>
                </a:solidFill>
              </a:rPr>
              <a:t>班级：软件2402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E5E7EB"/>
                </a:solidFill>
              </a:rPr>
              <a:t>指导教师：【指导教师】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420624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CA3AF"/>
                </a:solidFill>
              </a:rPr>
              <a:t>浙江工商大学  计算机科学与技术学院  ·  2026 年 10 月</a:t>
            </a:r>
            <a:endParaRPr lang="en-US" sz="1200" dirty="0"/>
          </a:p>
        </p:txBody>
      </p:sp>
      <p:sp>
        <p:nvSpPr>
          <p:cNvPr id="7" name="cover-frame"/>
          <p:cNvSpPr/>
          <p:nvPr/>
        </p:nvSpPr>
        <p:spPr>
          <a:xfrm>
            <a:off x="5074920" y="960120"/>
            <a:ext cx="3840480" cy="2606040"/>
          </a:xfrm>
          <a:prstGeom prst="roundRect">
            <a:avLst>
              <a:gd name="adj" fmla="val 3509"/>
            </a:avLst>
          </a:prstGeom>
          <a:solidFill>
            <a:srgbClr val="374151"/>
          </a:solidFill>
          <a:ln w="12700">
            <a:solidFill>
              <a:srgbClr val="4B5563"/>
            </a:solidFill>
            <a:prstDash val="solid"/>
          </a:ln>
        </p:spPr>
      </p:sp>
      <p:pic>
        <p:nvPicPr>
          <p:cNvPr id="8" name="Image 0" descr="系统首页截图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166360" y="1051560"/>
            <a:ext cx="3657600" cy="2286000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5074920" y="3611880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CA3AF"/>
                </a:solidFill>
              </a:rPr>
              <a:t>系统首页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457200" y="201168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chemeClr val="accent1"/>
                </a:solidFill>
              </a:rPr>
              <a:t>CONTENTS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457200" y="457200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汇报目录</a:t>
            </a:r>
            <a:endParaRPr lang="en-US" sz="2600" dirty="0"/>
          </a:p>
        </p:txBody>
      </p:sp>
      <p:sp>
        <p:nvSpPr>
          <p:cNvPr id="5" name="card"/>
          <p:cNvSpPr/>
          <p:nvPr/>
        </p:nvSpPr>
        <p:spPr>
          <a:xfrm>
            <a:off x="457200" y="1325880"/>
            <a:ext cx="2606040" cy="1463040"/>
          </a:xfrm>
          <a:prstGeom prst="roundRect">
            <a:avLst>
              <a:gd name="adj" fmla="val 7500"/>
            </a:avLst>
          </a:prstGeom>
          <a:solidFill>
            <a:schemeClr val="bg1"/>
          </a:solidFill>
          <a:ln w="9525">
            <a:solidFill>
              <a:srgbClr val="E5E7EB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6" name="Text 3"/>
          <p:cNvSpPr txBox="1"/>
          <p:nvPr/>
        </p:nvSpPr>
        <p:spPr>
          <a:xfrm>
            <a:off x="685800" y="1527048"/>
            <a:ext cx="914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accent1"/>
                </a:solidFill>
              </a:rPr>
              <a:t>01</a:t>
            </a:r>
            <a:endParaRPr lang="en-US" sz="2800" dirty="0"/>
          </a:p>
        </p:txBody>
      </p:sp>
      <p:sp>
        <p:nvSpPr>
          <p:cNvPr id="7" name="icon-badge-FaLightbulb"/>
          <p:cNvSpPr/>
          <p:nvPr/>
        </p:nvSpPr>
        <p:spPr>
          <a:xfrm>
            <a:off x="2377440" y="1527048"/>
            <a:ext cx="457200" cy="457200"/>
          </a:xfrm>
          <a:prstGeom prst="ellipse">
            <a:avLst/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pic>
        <p:nvPicPr>
          <p:cNvPr id="8" name="Image 0" descr="FaLightbulb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491740" y="1641348"/>
            <a:ext cx="228600" cy="228600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685800" y="2057400"/>
            <a:ext cx="2148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项目背景</a:t>
            </a:r>
            <a:endParaRPr lang="en-US" sz="1800" dirty="0"/>
          </a:p>
        </p:txBody>
      </p:sp>
      <p:sp>
        <p:nvSpPr>
          <p:cNvPr id="10" name="Text 6"/>
          <p:cNvSpPr txBox="1"/>
          <p:nvPr/>
        </p:nvSpPr>
        <p:spPr>
          <a:xfrm>
            <a:off x="685800" y="2395728"/>
            <a:ext cx="2148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痛点与目标</a:t>
            </a:r>
            <a:endParaRPr lang="en-US" sz="1200" dirty="0"/>
          </a:p>
        </p:txBody>
      </p:sp>
      <p:sp>
        <p:nvSpPr>
          <p:cNvPr id="11" name="card"/>
          <p:cNvSpPr/>
          <p:nvPr/>
        </p:nvSpPr>
        <p:spPr>
          <a:xfrm>
            <a:off x="3268980" y="1325880"/>
            <a:ext cx="2606040" cy="1463040"/>
          </a:xfrm>
          <a:prstGeom prst="roundRect">
            <a:avLst>
              <a:gd name="adj" fmla="val 7500"/>
            </a:avLst>
          </a:prstGeom>
          <a:solidFill>
            <a:schemeClr val="bg1"/>
          </a:solidFill>
          <a:ln w="9525">
            <a:solidFill>
              <a:srgbClr val="E5E7EB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12" name="Text 8"/>
          <p:cNvSpPr txBox="1"/>
          <p:nvPr/>
        </p:nvSpPr>
        <p:spPr>
          <a:xfrm>
            <a:off x="3497580" y="1527048"/>
            <a:ext cx="914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accent1"/>
                </a:solidFill>
              </a:rPr>
              <a:t>02</a:t>
            </a:r>
            <a:endParaRPr lang="en-US" sz="2800" dirty="0"/>
          </a:p>
        </p:txBody>
      </p:sp>
      <p:sp>
        <p:nvSpPr>
          <p:cNvPr id="13" name="icon-badge-FaClipboardList"/>
          <p:cNvSpPr/>
          <p:nvPr/>
        </p:nvSpPr>
        <p:spPr>
          <a:xfrm>
            <a:off x="5189220" y="1527048"/>
            <a:ext cx="457200" cy="457200"/>
          </a:xfrm>
          <a:prstGeom prst="ellipse">
            <a:avLst/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pic>
        <p:nvPicPr>
          <p:cNvPr id="14" name="Image 1" descr="FaClipboardLis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03520" y="1641348"/>
            <a:ext cx="228600" cy="228600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3497580" y="2057400"/>
            <a:ext cx="2148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需求分析</a:t>
            </a:r>
            <a:endParaRPr lang="en-US" sz="1800" dirty="0"/>
          </a:p>
        </p:txBody>
      </p:sp>
      <p:sp>
        <p:nvSpPr>
          <p:cNvPr id="16" name="Text 11"/>
          <p:cNvSpPr txBox="1"/>
          <p:nvPr/>
        </p:nvSpPr>
        <p:spPr>
          <a:xfrm>
            <a:off x="3497580" y="2395728"/>
            <a:ext cx="2148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角色、用例与业务流程</a:t>
            </a:r>
            <a:endParaRPr lang="en-US" sz="1200" dirty="0"/>
          </a:p>
        </p:txBody>
      </p:sp>
      <p:sp>
        <p:nvSpPr>
          <p:cNvPr id="17" name="card"/>
          <p:cNvSpPr/>
          <p:nvPr/>
        </p:nvSpPr>
        <p:spPr>
          <a:xfrm>
            <a:off x="6080760" y="1325880"/>
            <a:ext cx="2606040" cy="1463040"/>
          </a:xfrm>
          <a:prstGeom prst="roundRect">
            <a:avLst>
              <a:gd name="adj" fmla="val 7500"/>
            </a:avLst>
          </a:prstGeom>
          <a:solidFill>
            <a:schemeClr val="bg1"/>
          </a:solidFill>
          <a:ln w="9525">
            <a:solidFill>
              <a:srgbClr val="E5E7EB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18" name="Text 13"/>
          <p:cNvSpPr txBox="1"/>
          <p:nvPr/>
        </p:nvSpPr>
        <p:spPr>
          <a:xfrm>
            <a:off x="6309360" y="1527048"/>
            <a:ext cx="914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accent1"/>
                </a:solidFill>
              </a:rPr>
              <a:t>03</a:t>
            </a:r>
            <a:endParaRPr lang="en-US" sz="2800" dirty="0"/>
          </a:p>
        </p:txBody>
      </p:sp>
      <p:sp>
        <p:nvSpPr>
          <p:cNvPr id="19" name="icon-badge-FaDiagramProject"/>
          <p:cNvSpPr/>
          <p:nvPr/>
        </p:nvSpPr>
        <p:spPr>
          <a:xfrm>
            <a:off x="8001000" y="1527048"/>
            <a:ext cx="457200" cy="457200"/>
          </a:xfrm>
          <a:prstGeom prst="ellipse">
            <a:avLst/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pic>
        <p:nvPicPr>
          <p:cNvPr id="20" name="Image 2" descr="FaDiagramProject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15300" y="1641348"/>
            <a:ext cx="228600" cy="228600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6309360" y="2057400"/>
            <a:ext cx="2148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系统设计</a:t>
            </a:r>
            <a:endParaRPr lang="en-US" sz="1800" dirty="0"/>
          </a:p>
        </p:txBody>
      </p:sp>
      <p:sp>
        <p:nvSpPr>
          <p:cNvPr id="22" name="Text 16"/>
          <p:cNvSpPr txBox="1"/>
          <p:nvPr/>
        </p:nvSpPr>
        <p:spPr>
          <a:xfrm>
            <a:off x="6309360" y="2395728"/>
            <a:ext cx="2148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架构、数据库与关键设计</a:t>
            </a:r>
            <a:endParaRPr lang="en-US" sz="1200" dirty="0"/>
          </a:p>
        </p:txBody>
      </p:sp>
      <p:sp>
        <p:nvSpPr>
          <p:cNvPr id="23" name="card"/>
          <p:cNvSpPr/>
          <p:nvPr/>
        </p:nvSpPr>
        <p:spPr>
          <a:xfrm>
            <a:off x="457200" y="3063240"/>
            <a:ext cx="2606040" cy="1463040"/>
          </a:xfrm>
          <a:prstGeom prst="roundRect">
            <a:avLst>
              <a:gd name="adj" fmla="val 7500"/>
            </a:avLst>
          </a:prstGeom>
          <a:solidFill>
            <a:schemeClr val="bg1"/>
          </a:solidFill>
          <a:ln w="9525">
            <a:solidFill>
              <a:srgbClr val="E5E7EB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24" name="Text 18"/>
          <p:cNvSpPr txBox="1"/>
          <p:nvPr/>
        </p:nvSpPr>
        <p:spPr>
          <a:xfrm>
            <a:off x="685800" y="3264408"/>
            <a:ext cx="914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accent1"/>
                </a:solidFill>
              </a:rPr>
              <a:t>04</a:t>
            </a:r>
            <a:endParaRPr lang="en-US" sz="2800" dirty="0"/>
          </a:p>
        </p:txBody>
      </p:sp>
      <p:sp>
        <p:nvSpPr>
          <p:cNvPr id="25" name="icon-badge-FaCode"/>
          <p:cNvSpPr/>
          <p:nvPr/>
        </p:nvSpPr>
        <p:spPr>
          <a:xfrm>
            <a:off x="2377440" y="3264408"/>
            <a:ext cx="457200" cy="457200"/>
          </a:xfrm>
          <a:prstGeom prst="ellipse">
            <a:avLst/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pic>
        <p:nvPicPr>
          <p:cNvPr id="26" name="Image 3" descr="FaCode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491740" y="3378708"/>
            <a:ext cx="228600" cy="228600"/>
          </a:xfrm>
          <a:prstGeom prst="rect">
            <a:avLst/>
          </a:prstGeom>
        </p:spPr>
      </p:pic>
      <p:sp>
        <p:nvSpPr>
          <p:cNvPr id="27" name="Text 20"/>
          <p:cNvSpPr txBox="1"/>
          <p:nvPr/>
        </p:nvSpPr>
        <p:spPr>
          <a:xfrm>
            <a:off x="685800" y="3794760"/>
            <a:ext cx="2148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系统实现</a:t>
            </a:r>
            <a:endParaRPr lang="en-US" sz="1800" dirty="0"/>
          </a:p>
        </p:txBody>
      </p:sp>
      <p:sp>
        <p:nvSpPr>
          <p:cNvPr id="28" name="Text 21"/>
          <p:cNvSpPr txBox="1"/>
          <p:nvPr/>
        </p:nvSpPr>
        <p:spPr>
          <a:xfrm>
            <a:off x="685800" y="4133088"/>
            <a:ext cx="2148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技术栈、规模与界面</a:t>
            </a:r>
            <a:endParaRPr lang="en-US" sz="1200" dirty="0"/>
          </a:p>
        </p:txBody>
      </p:sp>
      <p:sp>
        <p:nvSpPr>
          <p:cNvPr id="29" name="card"/>
          <p:cNvSpPr/>
          <p:nvPr/>
        </p:nvSpPr>
        <p:spPr>
          <a:xfrm>
            <a:off x="3268980" y="3063240"/>
            <a:ext cx="2606040" cy="1463040"/>
          </a:xfrm>
          <a:prstGeom prst="roundRect">
            <a:avLst>
              <a:gd name="adj" fmla="val 7500"/>
            </a:avLst>
          </a:prstGeom>
          <a:solidFill>
            <a:schemeClr val="bg1"/>
          </a:solidFill>
          <a:ln w="9525">
            <a:solidFill>
              <a:srgbClr val="E5E7EB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30" name="Text 23"/>
          <p:cNvSpPr txBox="1"/>
          <p:nvPr/>
        </p:nvSpPr>
        <p:spPr>
          <a:xfrm>
            <a:off x="3497580" y="3264408"/>
            <a:ext cx="914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accent1"/>
                </a:solidFill>
              </a:rPr>
              <a:t>05</a:t>
            </a:r>
            <a:endParaRPr lang="en-US" sz="2800" dirty="0"/>
          </a:p>
        </p:txBody>
      </p:sp>
      <p:sp>
        <p:nvSpPr>
          <p:cNvPr id="31" name="icon-badge-FaVial"/>
          <p:cNvSpPr/>
          <p:nvPr/>
        </p:nvSpPr>
        <p:spPr>
          <a:xfrm>
            <a:off x="5189220" y="3264408"/>
            <a:ext cx="457200" cy="457200"/>
          </a:xfrm>
          <a:prstGeom prst="ellipse">
            <a:avLst/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pic>
        <p:nvPicPr>
          <p:cNvPr id="32" name="Image 4" descr="FaVial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303520" y="3378708"/>
            <a:ext cx="228600" cy="228600"/>
          </a:xfrm>
          <a:prstGeom prst="rect">
            <a:avLst/>
          </a:prstGeom>
        </p:spPr>
      </p:pic>
      <p:sp>
        <p:nvSpPr>
          <p:cNvPr id="33" name="Text 25"/>
          <p:cNvSpPr txBox="1"/>
          <p:nvPr/>
        </p:nvSpPr>
        <p:spPr>
          <a:xfrm>
            <a:off x="3497580" y="3794760"/>
            <a:ext cx="2148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软件测试</a:t>
            </a:r>
            <a:endParaRPr lang="en-US" sz="1800" dirty="0"/>
          </a:p>
        </p:txBody>
      </p:sp>
      <p:sp>
        <p:nvSpPr>
          <p:cNvPr id="34" name="Text 26"/>
          <p:cNvSpPr txBox="1"/>
          <p:nvPr/>
        </p:nvSpPr>
        <p:spPr>
          <a:xfrm>
            <a:off x="3497580" y="4133088"/>
            <a:ext cx="2148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策略、覆盖率与缺陷</a:t>
            </a:r>
            <a:endParaRPr lang="en-US" sz="1200" dirty="0"/>
          </a:p>
        </p:txBody>
      </p:sp>
      <p:sp>
        <p:nvSpPr>
          <p:cNvPr id="35" name="card"/>
          <p:cNvSpPr/>
          <p:nvPr/>
        </p:nvSpPr>
        <p:spPr>
          <a:xfrm>
            <a:off x="6080760" y="3063240"/>
            <a:ext cx="2606040" cy="1463040"/>
          </a:xfrm>
          <a:prstGeom prst="roundRect">
            <a:avLst>
              <a:gd name="adj" fmla="val 7500"/>
            </a:avLst>
          </a:prstGeom>
          <a:solidFill>
            <a:schemeClr val="bg1"/>
          </a:solidFill>
          <a:ln w="9525">
            <a:solidFill>
              <a:srgbClr val="E5E7EB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36" name="Text 28"/>
          <p:cNvSpPr txBox="1"/>
          <p:nvPr/>
        </p:nvSpPr>
        <p:spPr>
          <a:xfrm>
            <a:off x="6309360" y="3264408"/>
            <a:ext cx="914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accent1"/>
                </a:solidFill>
              </a:rPr>
              <a:t>06</a:t>
            </a:r>
            <a:endParaRPr lang="en-US" sz="2800" dirty="0"/>
          </a:p>
        </p:txBody>
      </p:sp>
      <p:sp>
        <p:nvSpPr>
          <p:cNvPr id="37" name="icon-badge-FaFlagCheckered"/>
          <p:cNvSpPr/>
          <p:nvPr/>
        </p:nvSpPr>
        <p:spPr>
          <a:xfrm>
            <a:off x="8001000" y="3264408"/>
            <a:ext cx="457200" cy="457200"/>
          </a:xfrm>
          <a:prstGeom prst="ellipse">
            <a:avLst/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pic>
        <p:nvPicPr>
          <p:cNvPr id="38" name="Image 5" descr="FaFlagCheckered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115300" y="3378708"/>
            <a:ext cx="228600" cy="228600"/>
          </a:xfrm>
          <a:prstGeom prst="rect">
            <a:avLst/>
          </a:prstGeom>
        </p:spPr>
      </p:pic>
      <p:sp>
        <p:nvSpPr>
          <p:cNvPr id="39" name="Text 30"/>
          <p:cNvSpPr txBox="1"/>
          <p:nvPr/>
        </p:nvSpPr>
        <p:spPr>
          <a:xfrm>
            <a:off x="6309360" y="3794760"/>
            <a:ext cx="2148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总结展望</a:t>
            </a:r>
            <a:endParaRPr lang="en-US" sz="1800" dirty="0"/>
          </a:p>
        </p:txBody>
      </p:sp>
      <p:sp>
        <p:nvSpPr>
          <p:cNvPr id="40" name="Text 31"/>
          <p:cNvSpPr txBox="1"/>
          <p:nvPr/>
        </p:nvSpPr>
        <p:spPr>
          <a:xfrm>
            <a:off x="6309360" y="4133088"/>
            <a:ext cx="2148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成果、收获与改进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138160" y="4818888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rgbClr val="6B728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457200" y="201168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chemeClr val="accent1"/>
                </a:solidFill>
              </a:rPr>
              <a:t>01  项目背景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457200" y="457200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校园闲置交易的痛点与平台目标</a:t>
            </a:r>
            <a:endParaRPr lang="en-US" sz="2600" dirty="0"/>
          </a:p>
        </p:txBody>
      </p:sp>
      <p:sp>
        <p:nvSpPr>
          <p:cNvPr id="5" name="Text 2"/>
          <p:cNvSpPr txBox="1"/>
          <p:nvPr/>
        </p:nvSpPr>
        <p:spPr>
          <a:xfrm>
            <a:off x="457200" y="1188720"/>
            <a:ext cx="3840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现状痛点</a:t>
            </a:r>
            <a:endParaRPr lang="en-US" sz="1600" dirty="0"/>
          </a:p>
        </p:txBody>
      </p:sp>
      <p:sp>
        <p:nvSpPr>
          <p:cNvPr id="6" name="card"/>
          <p:cNvSpPr/>
          <p:nvPr/>
        </p:nvSpPr>
        <p:spPr>
          <a:xfrm>
            <a:off x="457200" y="1600200"/>
            <a:ext cx="3840480" cy="822960"/>
          </a:xfrm>
          <a:prstGeom prst="roundRect">
            <a:avLst>
              <a:gd name="adj" fmla="val 13333"/>
            </a:avLst>
          </a:prstGeom>
          <a:solidFill>
            <a:schemeClr val="bg1"/>
          </a:solidFill>
          <a:ln w="9525">
            <a:solidFill>
              <a:srgbClr val="E5E7EB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7" name="icon-badge-FaComments"/>
          <p:cNvSpPr/>
          <p:nvPr/>
        </p:nvSpPr>
        <p:spPr>
          <a:xfrm>
            <a:off x="640080" y="1792224"/>
            <a:ext cx="438912" cy="438912"/>
          </a:xfrm>
          <a:prstGeom prst="ellipse">
            <a:avLst/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pic>
        <p:nvPicPr>
          <p:cNvPr id="8" name="Image 0" descr="FaComment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9808" y="1901952"/>
            <a:ext cx="219456" cy="219456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1234440" y="1691640"/>
            <a:ext cx="2926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信息分散</a:t>
            </a:r>
            <a:endParaRPr lang="en-US" sz="1400" dirty="0"/>
          </a:p>
        </p:txBody>
      </p:sp>
      <p:sp>
        <p:nvSpPr>
          <p:cNvPr id="10" name="Text 6"/>
          <p:cNvSpPr txBox="1"/>
          <p:nvPr/>
        </p:nvSpPr>
        <p:spPr>
          <a:xfrm>
            <a:off x="1234440" y="2011680"/>
            <a:ext cx="2926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QQ 群、表白墙刷屏，商品难以检索和比较</a:t>
            </a:r>
            <a:endParaRPr lang="en-US" sz="1200" dirty="0"/>
          </a:p>
        </p:txBody>
      </p:sp>
      <p:sp>
        <p:nvSpPr>
          <p:cNvPr id="11" name="card"/>
          <p:cNvSpPr/>
          <p:nvPr/>
        </p:nvSpPr>
        <p:spPr>
          <a:xfrm>
            <a:off x="457200" y="2560320"/>
            <a:ext cx="3840480" cy="822960"/>
          </a:xfrm>
          <a:prstGeom prst="roundRect">
            <a:avLst>
              <a:gd name="adj" fmla="val 13333"/>
            </a:avLst>
          </a:prstGeom>
          <a:solidFill>
            <a:schemeClr val="bg1"/>
          </a:solidFill>
          <a:ln w="9525">
            <a:solidFill>
              <a:srgbClr val="E5E7EB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12" name="icon-badge-FaUserShield"/>
          <p:cNvSpPr/>
          <p:nvPr/>
        </p:nvSpPr>
        <p:spPr>
          <a:xfrm>
            <a:off x="640080" y="2752344"/>
            <a:ext cx="438912" cy="438912"/>
          </a:xfrm>
          <a:prstGeom prst="ellipse">
            <a:avLst/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pic>
        <p:nvPicPr>
          <p:cNvPr id="13" name="Image 1" descr="FaUserShiel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9808" y="2862072"/>
            <a:ext cx="219456" cy="219456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1234440" y="2651760"/>
            <a:ext cx="2926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缺乏信任</a:t>
            </a:r>
            <a:endParaRPr lang="en-US" sz="1400" dirty="0"/>
          </a:p>
        </p:txBody>
      </p:sp>
      <p:sp>
        <p:nvSpPr>
          <p:cNvPr id="15" name="Text 10"/>
          <p:cNvSpPr txBox="1"/>
          <p:nvPr/>
        </p:nvSpPr>
        <p:spPr>
          <a:xfrm>
            <a:off x="1234440" y="2971800"/>
            <a:ext cx="2926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互不认识，虚假信息、违规物品无人把关</a:t>
            </a:r>
            <a:endParaRPr lang="en-US" sz="1200" dirty="0"/>
          </a:p>
        </p:txBody>
      </p:sp>
      <p:sp>
        <p:nvSpPr>
          <p:cNvPr id="16" name="card"/>
          <p:cNvSpPr/>
          <p:nvPr/>
        </p:nvSpPr>
        <p:spPr>
          <a:xfrm>
            <a:off x="457200" y="3520440"/>
            <a:ext cx="3840480" cy="822960"/>
          </a:xfrm>
          <a:prstGeom prst="roundRect">
            <a:avLst>
              <a:gd name="adj" fmla="val 13333"/>
            </a:avLst>
          </a:prstGeom>
          <a:solidFill>
            <a:schemeClr val="bg1"/>
          </a:solidFill>
          <a:ln w="9525">
            <a:solidFill>
              <a:srgbClr val="E5E7EB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17" name="icon-badge-FaRecycle"/>
          <p:cNvSpPr/>
          <p:nvPr/>
        </p:nvSpPr>
        <p:spPr>
          <a:xfrm>
            <a:off x="640080" y="3712464"/>
            <a:ext cx="438912" cy="438912"/>
          </a:xfrm>
          <a:prstGeom prst="ellipse">
            <a:avLst/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pic>
        <p:nvPicPr>
          <p:cNvPr id="18" name="Image 2" descr="FaRecycl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9808" y="3822192"/>
            <a:ext cx="219456" cy="219456"/>
          </a:xfrm>
          <a:prstGeom prst="rect">
            <a:avLst/>
          </a:prstGeom>
        </p:spPr>
      </p:pic>
      <p:sp>
        <p:nvSpPr>
          <p:cNvPr id="19" name="Text 13"/>
          <p:cNvSpPr txBox="1"/>
          <p:nvPr/>
        </p:nvSpPr>
        <p:spPr>
          <a:xfrm>
            <a:off x="1234440" y="3611880"/>
            <a:ext cx="2926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资源浪费</a:t>
            </a:r>
            <a:endParaRPr lang="en-US" sz="1400" dirty="0"/>
          </a:p>
        </p:txBody>
      </p:sp>
      <p:sp>
        <p:nvSpPr>
          <p:cNvPr id="20" name="Text 14"/>
          <p:cNvSpPr txBox="1"/>
          <p:nvPr/>
        </p:nvSpPr>
        <p:spPr>
          <a:xfrm>
            <a:off x="1234440" y="3931920"/>
            <a:ext cx="2926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毕业季大量教材和电器被丢弃，利用率低</a:t>
            </a:r>
            <a:endParaRPr lang="en-US" sz="1200" dirty="0"/>
          </a:p>
        </p:txBody>
      </p:sp>
      <p:sp>
        <p:nvSpPr>
          <p:cNvPr id="21" name="Text 15"/>
          <p:cNvSpPr txBox="1"/>
          <p:nvPr/>
        </p:nvSpPr>
        <p:spPr>
          <a:xfrm>
            <a:off x="4663440" y="1188720"/>
            <a:ext cx="4023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平台目标</a:t>
            </a:r>
            <a:endParaRPr lang="en-US" sz="1600" dirty="0"/>
          </a:p>
        </p:txBody>
      </p:sp>
      <p:sp>
        <p:nvSpPr>
          <p:cNvPr id="22" name="card"/>
          <p:cNvSpPr/>
          <p:nvPr/>
        </p:nvSpPr>
        <p:spPr>
          <a:xfrm>
            <a:off x="4663440" y="1600200"/>
            <a:ext cx="4023360" cy="2743200"/>
          </a:xfrm>
          <a:prstGeom prst="roundRect">
            <a:avLst>
              <a:gd name="adj" fmla="val 4000"/>
            </a:avLst>
          </a:prstGeom>
          <a:solidFill>
            <a:srgbClr val="FFF1E6"/>
          </a:solidFill>
          <a:ln w="12700">
            <a:solidFill>
              <a:srgbClr val="FED7AA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23" name="icon-badge-FaMagnifyingGlass"/>
          <p:cNvSpPr/>
          <p:nvPr/>
        </p:nvSpPr>
        <p:spPr>
          <a:xfrm>
            <a:off x="4846320" y="1783080"/>
            <a:ext cx="402336" cy="402336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24" name="Image 3" descr="FaMagnifyingGlass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946904" y="1883664"/>
            <a:ext cx="201168" cy="201168"/>
          </a:xfrm>
          <a:prstGeom prst="rect">
            <a:avLst/>
          </a:prstGeom>
        </p:spPr>
      </p:pic>
      <p:sp>
        <p:nvSpPr>
          <p:cNvPr id="25" name="Text 18"/>
          <p:cNvSpPr txBox="1"/>
          <p:nvPr/>
        </p:nvSpPr>
        <p:spPr>
          <a:xfrm>
            <a:off x="5394960" y="1728216"/>
            <a:ext cx="31546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集中展示</a:t>
            </a:r>
            <a:endParaRPr lang="en-US" sz="1400" dirty="0"/>
          </a:p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分类浏览、关键词搜索、价格筛选</a:t>
            </a:r>
            <a:endParaRPr lang="en-US" sz="1400" dirty="0"/>
          </a:p>
        </p:txBody>
      </p:sp>
      <p:sp>
        <p:nvSpPr>
          <p:cNvPr id="26" name="icon-badge-FaClipboardCheck"/>
          <p:cNvSpPr/>
          <p:nvPr/>
        </p:nvSpPr>
        <p:spPr>
          <a:xfrm>
            <a:off x="4846320" y="2404872"/>
            <a:ext cx="402336" cy="402336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27" name="Image 4" descr="FaClipboardCheck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946904" y="2505456"/>
            <a:ext cx="201168" cy="201168"/>
          </a:xfrm>
          <a:prstGeom prst="rect">
            <a:avLst/>
          </a:prstGeom>
        </p:spPr>
      </p:pic>
      <p:sp>
        <p:nvSpPr>
          <p:cNvPr id="28" name="Text 20"/>
          <p:cNvSpPr txBox="1"/>
          <p:nvPr/>
        </p:nvSpPr>
        <p:spPr>
          <a:xfrm>
            <a:off x="5394960" y="2350008"/>
            <a:ext cx="31546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审核上架</a:t>
            </a:r>
            <a:endParaRPr lang="en-US" sz="1400" dirty="0"/>
          </a:p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管理员审核通过才展示，违规可下架</a:t>
            </a:r>
            <a:endParaRPr lang="en-US" sz="1400" dirty="0"/>
          </a:p>
        </p:txBody>
      </p:sp>
      <p:sp>
        <p:nvSpPr>
          <p:cNvPr id="29" name="icon-badge-FaHandshake"/>
          <p:cNvSpPr/>
          <p:nvPr/>
        </p:nvSpPr>
        <p:spPr>
          <a:xfrm>
            <a:off x="4846320" y="3026664"/>
            <a:ext cx="402336" cy="402336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30" name="Image 5" descr="FaHandshake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946904" y="3127248"/>
            <a:ext cx="201168" cy="201168"/>
          </a:xfrm>
          <a:prstGeom prst="rect">
            <a:avLst/>
          </a:prstGeom>
        </p:spPr>
      </p:pic>
      <p:sp>
        <p:nvSpPr>
          <p:cNvPr id="31" name="Text 22"/>
          <p:cNvSpPr txBox="1"/>
          <p:nvPr/>
        </p:nvSpPr>
        <p:spPr>
          <a:xfrm>
            <a:off x="5394960" y="2971800"/>
            <a:ext cx="31546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同校面交</a:t>
            </a:r>
            <a:endParaRPr lang="en-US" sz="1400" dirty="0"/>
          </a:p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下单 → 卖家确认 → 当面验货 → 收货</a:t>
            </a:r>
            <a:endParaRPr lang="en-US" sz="1400" dirty="0"/>
          </a:p>
        </p:txBody>
      </p:sp>
      <p:sp>
        <p:nvSpPr>
          <p:cNvPr id="32" name="icon-badge-FaUsers"/>
          <p:cNvSpPr/>
          <p:nvPr/>
        </p:nvSpPr>
        <p:spPr>
          <a:xfrm>
            <a:off x="4846320" y="3648456"/>
            <a:ext cx="402336" cy="402336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33" name="Image 6" descr="FaUsers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946904" y="3749040"/>
            <a:ext cx="201168" cy="201168"/>
          </a:xfrm>
          <a:prstGeom prst="rect">
            <a:avLst/>
          </a:prstGeom>
        </p:spPr>
      </p:pic>
      <p:sp>
        <p:nvSpPr>
          <p:cNvPr id="34" name="Text 24"/>
          <p:cNvSpPr txBox="1"/>
          <p:nvPr/>
        </p:nvSpPr>
        <p:spPr>
          <a:xfrm>
            <a:off x="5394960" y="3593592"/>
            <a:ext cx="31546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三类角色</a:t>
            </a:r>
            <a:endParaRPr lang="en-US" sz="1400" dirty="0"/>
          </a:p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游客浏览、学生买卖、管理员运营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138160" y="4818888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rgbClr val="6B728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457200" y="201168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chemeClr val="accent1"/>
                </a:solidFill>
              </a:rPr>
              <a:t>02  需求分析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457200" y="457200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用户角色与功能模块划分</a:t>
            </a:r>
            <a:endParaRPr lang="en-US" sz="2600" dirty="0"/>
          </a:p>
        </p:txBody>
      </p:sp>
      <p:sp>
        <p:nvSpPr>
          <p:cNvPr id="5" name="frame"/>
          <p:cNvSpPr/>
          <p:nvPr/>
        </p:nvSpPr>
        <p:spPr>
          <a:xfrm>
            <a:off x="1415103" y="1188720"/>
            <a:ext cx="6313793" cy="2697480"/>
          </a:xfrm>
          <a:prstGeom prst="roundRect">
            <a:avLst>
              <a:gd name="adj" fmla="val 2712"/>
            </a:avLst>
          </a:prstGeom>
          <a:solidFill>
            <a:schemeClr val="bg1"/>
          </a:solidFill>
          <a:ln w="9525">
            <a:solidFill>
              <a:srgbClr val="E5E7EB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pic>
        <p:nvPicPr>
          <p:cNvPr id="6" name="Image 0" descr="module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488255" y="1261872"/>
            <a:ext cx="6167489" cy="2551176"/>
          </a:xfrm>
          <a:prstGeom prst="rect">
            <a:avLst/>
          </a:prstGeom>
        </p:spPr>
      </p:pic>
      <p:sp>
        <p:nvSpPr>
          <p:cNvPr id="7" name="card"/>
          <p:cNvSpPr/>
          <p:nvPr/>
        </p:nvSpPr>
        <p:spPr>
          <a:xfrm>
            <a:off x="457200" y="4023360"/>
            <a:ext cx="2606040" cy="621792"/>
          </a:xfrm>
          <a:prstGeom prst="roundRect">
            <a:avLst>
              <a:gd name="adj" fmla="val 17647"/>
            </a:avLst>
          </a:prstGeom>
          <a:solidFill>
            <a:schemeClr val="bg1"/>
          </a:solidFill>
          <a:ln w="9525">
            <a:solidFill>
              <a:srgbClr val="E5E7EB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8" name="icon-badge-FaEye"/>
          <p:cNvSpPr/>
          <p:nvPr/>
        </p:nvSpPr>
        <p:spPr>
          <a:xfrm>
            <a:off x="585216" y="4133088"/>
            <a:ext cx="402336" cy="402336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9" name="Image 1" descr="FaEy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4233672"/>
            <a:ext cx="201168" cy="201168"/>
          </a:xfrm>
          <a:prstGeom prst="rect">
            <a:avLst/>
          </a:prstGeom>
        </p:spPr>
      </p:pic>
      <p:sp>
        <p:nvSpPr>
          <p:cNvPr id="10" name="Text 5"/>
          <p:cNvSpPr txBox="1"/>
          <p:nvPr/>
        </p:nvSpPr>
        <p:spPr>
          <a:xfrm>
            <a:off x="1097280" y="4050792"/>
            <a:ext cx="1920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游客</a:t>
            </a:r>
            <a:endParaRPr lang="en-US" sz="1400" dirty="0"/>
          </a:p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浏览、搜索、查看详情</a:t>
            </a:r>
            <a:endParaRPr lang="en-US" sz="1400" dirty="0"/>
          </a:p>
        </p:txBody>
      </p:sp>
      <p:sp>
        <p:nvSpPr>
          <p:cNvPr id="11" name="card"/>
          <p:cNvSpPr/>
          <p:nvPr/>
        </p:nvSpPr>
        <p:spPr>
          <a:xfrm>
            <a:off x="3246120" y="4023360"/>
            <a:ext cx="2606040" cy="621792"/>
          </a:xfrm>
          <a:prstGeom prst="roundRect">
            <a:avLst>
              <a:gd name="adj" fmla="val 17647"/>
            </a:avLst>
          </a:prstGeom>
          <a:solidFill>
            <a:schemeClr val="bg1"/>
          </a:solidFill>
          <a:ln w="9525">
            <a:solidFill>
              <a:srgbClr val="E5E7EB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12" name="icon-badge-FaUserGraduate"/>
          <p:cNvSpPr/>
          <p:nvPr/>
        </p:nvSpPr>
        <p:spPr>
          <a:xfrm>
            <a:off x="3374136" y="4133088"/>
            <a:ext cx="402336" cy="402336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3" name="Image 2" descr="FaUserGraduat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74720" y="4233672"/>
            <a:ext cx="201168" cy="201168"/>
          </a:xfrm>
          <a:prstGeom prst="rect">
            <a:avLst/>
          </a:prstGeom>
        </p:spPr>
      </p:pic>
      <p:sp>
        <p:nvSpPr>
          <p:cNvPr id="14" name="Text 8"/>
          <p:cNvSpPr txBox="1"/>
          <p:nvPr/>
        </p:nvSpPr>
        <p:spPr>
          <a:xfrm>
            <a:off x="3886200" y="4050792"/>
            <a:ext cx="1920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学生用户</a:t>
            </a:r>
            <a:endParaRPr lang="en-US" sz="1400" dirty="0"/>
          </a:p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买家 + 卖家，发布与交易</a:t>
            </a:r>
            <a:endParaRPr lang="en-US" sz="1400" dirty="0"/>
          </a:p>
        </p:txBody>
      </p:sp>
      <p:sp>
        <p:nvSpPr>
          <p:cNvPr id="15" name="card"/>
          <p:cNvSpPr/>
          <p:nvPr/>
        </p:nvSpPr>
        <p:spPr>
          <a:xfrm>
            <a:off x="6035040" y="4023360"/>
            <a:ext cx="2606040" cy="621792"/>
          </a:xfrm>
          <a:prstGeom prst="roundRect">
            <a:avLst>
              <a:gd name="adj" fmla="val 17647"/>
            </a:avLst>
          </a:prstGeom>
          <a:solidFill>
            <a:schemeClr val="bg1"/>
          </a:solidFill>
          <a:ln w="9525">
            <a:solidFill>
              <a:srgbClr val="E5E7EB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16" name="icon-badge-FaUserGear"/>
          <p:cNvSpPr/>
          <p:nvPr/>
        </p:nvSpPr>
        <p:spPr>
          <a:xfrm>
            <a:off x="6163056" y="4133088"/>
            <a:ext cx="402336" cy="402336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7" name="Image 3" descr="FaUserGear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63640" y="4233672"/>
            <a:ext cx="201168" cy="201168"/>
          </a:xfrm>
          <a:prstGeom prst="rect">
            <a:avLst/>
          </a:prstGeom>
        </p:spPr>
      </p:pic>
      <p:sp>
        <p:nvSpPr>
          <p:cNvPr id="18" name="Text 11"/>
          <p:cNvSpPr txBox="1"/>
          <p:nvPr/>
        </p:nvSpPr>
        <p:spPr>
          <a:xfrm>
            <a:off x="6675120" y="4050792"/>
            <a:ext cx="1920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管理员</a:t>
            </a:r>
            <a:endParaRPr lang="en-US" sz="1400" dirty="0"/>
          </a:p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审核、封禁、分类、统计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138160" y="4818888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rgbClr val="6B728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457200" y="201168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chemeClr val="accent1"/>
                </a:solidFill>
              </a:rPr>
              <a:t>02  需求分析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457200" y="457200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系统用例图</a:t>
            </a:r>
            <a:endParaRPr lang="en-US" sz="2600" dirty="0"/>
          </a:p>
        </p:txBody>
      </p:sp>
      <p:sp>
        <p:nvSpPr>
          <p:cNvPr id="5" name="frame"/>
          <p:cNvSpPr/>
          <p:nvPr/>
        </p:nvSpPr>
        <p:spPr>
          <a:xfrm>
            <a:off x="720104" y="1143000"/>
            <a:ext cx="3406112" cy="3566160"/>
          </a:xfrm>
          <a:prstGeom prst="roundRect">
            <a:avLst>
              <a:gd name="adj" fmla="val 2148"/>
            </a:avLst>
          </a:prstGeom>
          <a:solidFill>
            <a:schemeClr val="bg1"/>
          </a:solidFill>
          <a:ln w="9525">
            <a:solidFill>
              <a:srgbClr val="E5E7EB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pic>
        <p:nvPicPr>
          <p:cNvPr id="6" name="Image 0" descr="usecas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93256" y="1216152"/>
            <a:ext cx="3259808" cy="3419856"/>
          </a:xfrm>
          <a:prstGeom prst="rect">
            <a:avLst/>
          </a:prstGeom>
        </p:spPr>
      </p:pic>
      <p:sp>
        <p:nvSpPr>
          <p:cNvPr id="7" name="card"/>
          <p:cNvSpPr/>
          <p:nvPr/>
        </p:nvSpPr>
        <p:spPr>
          <a:xfrm>
            <a:off x="4663440" y="1188720"/>
            <a:ext cx="4023360" cy="749808"/>
          </a:xfrm>
          <a:prstGeom prst="roundRect">
            <a:avLst>
              <a:gd name="adj" fmla="val 14634"/>
            </a:avLst>
          </a:prstGeom>
          <a:solidFill>
            <a:schemeClr val="bg1"/>
          </a:solidFill>
          <a:ln w="9525">
            <a:solidFill>
              <a:srgbClr val="E5E7EB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8" name="icon-badge-FaEye"/>
          <p:cNvSpPr/>
          <p:nvPr/>
        </p:nvSpPr>
        <p:spPr>
          <a:xfrm>
            <a:off x="4828032" y="1362456"/>
            <a:ext cx="402336" cy="402336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9" name="Image 1" descr="FaEy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28616" y="1463040"/>
            <a:ext cx="201168" cy="201168"/>
          </a:xfrm>
          <a:prstGeom prst="rect">
            <a:avLst/>
          </a:prstGeom>
        </p:spPr>
      </p:pic>
      <p:sp>
        <p:nvSpPr>
          <p:cNvPr id="10" name="Text 5"/>
          <p:cNvSpPr txBox="1"/>
          <p:nvPr/>
        </p:nvSpPr>
        <p:spPr>
          <a:xfrm>
            <a:off x="5349240" y="1225296"/>
            <a:ext cx="324612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游客 / 公共</a:t>
            </a:r>
            <a:endParaRPr lang="en-US" sz="1400" dirty="0"/>
          </a:p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浏览搜索、筛选排序、查看详情、注册登录</a:t>
            </a:r>
            <a:endParaRPr lang="en-US" sz="1400" dirty="0"/>
          </a:p>
        </p:txBody>
      </p:sp>
      <p:sp>
        <p:nvSpPr>
          <p:cNvPr id="11" name="card"/>
          <p:cNvSpPr/>
          <p:nvPr/>
        </p:nvSpPr>
        <p:spPr>
          <a:xfrm>
            <a:off x="4663440" y="2075688"/>
            <a:ext cx="4023360" cy="749808"/>
          </a:xfrm>
          <a:prstGeom prst="roundRect">
            <a:avLst>
              <a:gd name="adj" fmla="val 14634"/>
            </a:avLst>
          </a:prstGeom>
          <a:solidFill>
            <a:schemeClr val="bg1"/>
          </a:solidFill>
          <a:ln w="9525">
            <a:solidFill>
              <a:srgbClr val="E5E7EB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12" name="icon-badge-FaStore"/>
          <p:cNvSpPr/>
          <p:nvPr/>
        </p:nvSpPr>
        <p:spPr>
          <a:xfrm>
            <a:off x="4828032" y="2249424"/>
            <a:ext cx="402336" cy="402336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3" name="Image 2" descr="FaStor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28616" y="2350008"/>
            <a:ext cx="201168" cy="201168"/>
          </a:xfrm>
          <a:prstGeom prst="rect">
            <a:avLst/>
          </a:prstGeom>
        </p:spPr>
      </p:pic>
      <p:sp>
        <p:nvSpPr>
          <p:cNvPr id="14" name="Text 8"/>
          <p:cNvSpPr txBox="1"/>
          <p:nvPr/>
        </p:nvSpPr>
        <p:spPr>
          <a:xfrm>
            <a:off x="5349240" y="2112264"/>
            <a:ext cx="324612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卖家</a:t>
            </a:r>
            <a:endParaRPr lang="en-US" sz="1400" dirty="0"/>
          </a:p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发布（含图片上传）、编辑、上下架、确认订单</a:t>
            </a:r>
            <a:endParaRPr lang="en-US" sz="1400" dirty="0"/>
          </a:p>
        </p:txBody>
      </p:sp>
      <p:sp>
        <p:nvSpPr>
          <p:cNvPr id="15" name="card"/>
          <p:cNvSpPr/>
          <p:nvPr/>
        </p:nvSpPr>
        <p:spPr>
          <a:xfrm>
            <a:off x="4663440" y="2962656"/>
            <a:ext cx="4023360" cy="749808"/>
          </a:xfrm>
          <a:prstGeom prst="roundRect">
            <a:avLst>
              <a:gd name="adj" fmla="val 14634"/>
            </a:avLst>
          </a:prstGeom>
          <a:solidFill>
            <a:schemeClr val="bg1"/>
          </a:solidFill>
          <a:ln w="9525">
            <a:solidFill>
              <a:srgbClr val="E5E7EB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16" name="icon-badge-FaCartShopping"/>
          <p:cNvSpPr/>
          <p:nvPr/>
        </p:nvSpPr>
        <p:spPr>
          <a:xfrm>
            <a:off x="4828032" y="3136392"/>
            <a:ext cx="402336" cy="402336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7" name="Image 3" descr="FaCartShoppi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928616" y="3236976"/>
            <a:ext cx="201168" cy="201168"/>
          </a:xfrm>
          <a:prstGeom prst="rect">
            <a:avLst/>
          </a:prstGeom>
        </p:spPr>
      </p:pic>
      <p:sp>
        <p:nvSpPr>
          <p:cNvPr id="18" name="Text 11"/>
          <p:cNvSpPr txBox="1"/>
          <p:nvPr/>
        </p:nvSpPr>
        <p:spPr>
          <a:xfrm>
            <a:off x="5349240" y="2999232"/>
            <a:ext cx="324612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买家</a:t>
            </a:r>
            <a:endParaRPr lang="en-US" sz="1400" dirty="0"/>
          </a:p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收藏、留言、下单、确认收货、取消订单</a:t>
            </a:r>
            <a:endParaRPr lang="en-US" sz="1400" dirty="0"/>
          </a:p>
        </p:txBody>
      </p:sp>
      <p:sp>
        <p:nvSpPr>
          <p:cNvPr id="19" name="card"/>
          <p:cNvSpPr/>
          <p:nvPr/>
        </p:nvSpPr>
        <p:spPr>
          <a:xfrm>
            <a:off x="4663440" y="3849624"/>
            <a:ext cx="4023360" cy="749808"/>
          </a:xfrm>
          <a:prstGeom prst="roundRect">
            <a:avLst>
              <a:gd name="adj" fmla="val 14634"/>
            </a:avLst>
          </a:prstGeom>
          <a:solidFill>
            <a:schemeClr val="bg1"/>
          </a:solidFill>
          <a:ln w="9525">
            <a:solidFill>
              <a:srgbClr val="E5E7EB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20" name="icon-badge-FaUserGear"/>
          <p:cNvSpPr/>
          <p:nvPr/>
        </p:nvSpPr>
        <p:spPr>
          <a:xfrm>
            <a:off x="4828032" y="4023360"/>
            <a:ext cx="402336" cy="402336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21" name="Image 4" descr="FaUserGear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928616" y="4123944"/>
            <a:ext cx="201168" cy="201168"/>
          </a:xfrm>
          <a:prstGeom prst="rect">
            <a:avLst/>
          </a:prstGeom>
        </p:spPr>
      </p:pic>
      <p:sp>
        <p:nvSpPr>
          <p:cNvPr id="22" name="Text 14"/>
          <p:cNvSpPr txBox="1"/>
          <p:nvPr/>
        </p:nvSpPr>
        <p:spPr>
          <a:xfrm>
            <a:off x="5349240" y="3886200"/>
            <a:ext cx="324612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管理员</a:t>
            </a:r>
            <a:endParaRPr lang="en-US" sz="1400" dirty="0"/>
          </a:p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审核、强制下架、封禁用户、分类管理、统计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138160" y="4818888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rgbClr val="6B728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457200" y="201168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chemeClr val="accent1"/>
                </a:solidFill>
              </a:rPr>
              <a:t>02  需求分析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457200" y="457200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核心业务流程：从发布到成交</a:t>
            </a:r>
            <a:endParaRPr lang="en-US" sz="2600" dirty="0"/>
          </a:p>
        </p:txBody>
      </p:sp>
      <p:sp>
        <p:nvSpPr>
          <p:cNvPr id="5" name="step-no"/>
          <p:cNvSpPr/>
          <p:nvPr/>
        </p:nvSpPr>
        <p:spPr>
          <a:xfrm>
            <a:off x="457200" y="1243584"/>
            <a:ext cx="384048" cy="38404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457200" y="124358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1</a:t>
            </a:r>
            <a:endParaRPr lang="en-US" sz="1400" dirty="0"/>
          </a:p>
        </p:txBody>
      </p:sp>
      <p:sp>
        <p:nvSpPr>
          <p:cNvPr id="7" name="step-line"/>
          <p:cNvSpPr/>
          <p:nvPr/>
        </p:nvSpPr>
        <p:spPr>
          <a:xfrm>
            <a:off x="649224" y="1645920"/>
            <a:ext cx="0" cy="164592"/>
          </a:xfrm>
          <a:prstGeom prst="line">
            <a:avLst/>
          </a:prstGeom>
          <a:noFill/>
          <a:ln w="25400">
            <a:solidFill>
              <a:srgbClr val="FDBA74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1005840" y="1216152"/>
            <a:ext cx="45720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发布商品  </a:t>
            </a:r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卖家填写信息、上传图片，进入“待审核”</a:t>
            </a:r>
            <a:endParaRPr lang="en-US" sz="1400" dirty="0"/>
          </a:p>
        </p:txBody>
      </p:sp>
      <p:sp>
        <p:nvSpPr>
          <p:cNvPr id="9" name="step-no"/>
          <p:cNvSpPr/>
          <p:nvPr/>
        </p:nvSpPr>
        <p:spPr>
          <a:xfrm>
            <a:off x="457200" y="1828800"/>
            <a:ext cx="384048" cy="38404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457200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2</a:t>
            </a:r>
            <a:endParaRPr lang="en-US" sz="1400" dirty="0"/>
          </a:p>
        </p:txBody>
      </p:sp>
      <p:sp>
        <p:nvSpPr>
          <p:cNvPr id="11" name="step-line"/>
          <p:cNvSpPr/>
          <p:nvPr/>
        </p:nvSpPr>
        <p:spPr>
          <a:xfrm>
            <a:off x="649224" y="2231136"/>
            <a:ext cx="0" cy="164592"/>
          </a:xfrm>
          <a:prstGeom prst="line">
            <a:avLst/>
          </a:prstGeom>
          <a:noFill/>
          <a:ln w="25400">
            <a:solidFill>
              <a:srgbClr val="FDBA74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1005840" y="1801368"/>
            <a:ext cx="45720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审核上架  </a:t>
            </a:r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管理员审核通过 → 在售；驳回需填写原因</a:t>
            </a:r>
            <a:endParaRPr lang="en-US" sz="1400" dirty="0"/>
          </a:p>
        </p:txBody>
      </p:sp>
      <p:sp>
        <p:nvSpPr>
          <p:cNvPr id="13" name="step-no"/>
          <p:cNvSpPr/>
          <p:nvPr/>
        </p:nvSpPr>
        <p:spPr>
          <a:xfrm>
            <a:off x="457200" y="2414016"/>
            <a:ext cx="384048" cy="38404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457200" y="241401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3</a:t>
            </a:r>
            <a:endParaRPr lang="en-US" sz="1400" dirty="0"/>
          </a:p>
        </p:txBody>
      </p:sp>
      <p:sp>
        <p:nvSpPr>
          <p:cNvPr id="15" name="step-line"/>
          <p:cNvSpPr/>
          <p:nvPr/>
        </p:nvSpPr>
        <p:spPr>
          <a:xfrm>
            <a:off x="649224" y="2816352"/>
            <a:ext cx="0" cy="164592"/>
          </a:xfrm>
          <a:prstGeom prst="line">
            <a:avLst/>
          </a:prstGeom>
          <a:noFill/>
          <a:ln w="25400">
            <a:solidFill>
              <a:srgbClr val="FDBA74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1005840" y="2386584"/>
            <a:ext cx="45720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买家下单  </a:t>
            </a:r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商品锁定为“交易中”，他人不可再买</a:t>
            </a:r>
            <a:endParaRPr lang="en-US" sz="1400" dirty="0"/>
          </a:p>
        </p:txBody>
      </p:sp>
      <p:sp>
        <p:nvSpPr>
          <p:cNvPr id="17" name="step-no"/>
          <p:cNvSpPr/>
          <p:nvPr/>
        </p:nvSpPr>
        <p:spPr>
          <a:xfrm>
            <a:off x="457200" y="2999232"/>
            <a:ext cx="384048" cy="38404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457200" y="299923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4</a:t>
            </a:r>
            <a:endParaRPr lang="en-US" sz="1400" dirty="0"/>
          </a:p>
        </p:txBody>
      </p:sp>
      <p:sp>
        <p:nvSpPr>
          <p:cNvPr id="19" name="step-line"/>
          <p:cNvSpPr/>
          <p:nvPr/>
        </p:nvSpPr>
        <p:spPr>
          <a:xfrm>
            <a:off x="649224" y="3401568"/>
            <a:ext cx="0" cy="164592"/>
          </a:xfrm>
          <a:prstGeom prst="line">
            <a:avLst/>
          </a:prstGeom>
          <a:noFill/>
          <a:ln w="25400">
            <a:solidFill>
              <a:srgbClr val="FDBA74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1005840" y="2971800"/>
            <a:ext cx="45720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卖家确认  </a:t>
            </a:r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双方可见联系电话，约定面交时间地点</a:t>
            </a:r>
            <a:endParaRPr lang="en-US" sz="1400" dirty="0"/>
          </a:p>
        </p:txBody>
      </p:sp>
      <p:sp>
        <p:nvSpPr>
          <p:cNvPr id="21" name="step-no"/>
          <p:cNvSpPr/>
          <p:nvPr/>
        </p:nvSpPr>
        <p:spPr>
          <a:xfrm>
            <a:off x="457200" y="3584448"/>
            <a:ext cx="384048" cy="38404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457200" y="358444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5</a:t>
            </a:r>
            <a:endParaRPr lang="en-US" sz="1400" dirty="0"/>
          </a:p>
        </p:txBody>
      </p:sp>
      <p:sp>
        <p:nvSpPr>
          <p:cNvPr id="23" name="step-line"/>
          <p:cNvSpPr/>
          <p:nvPr/>
        </p:nvSpPr>
        <p:spPr>
          <a:xfrm>
            <a:off x="649224" y="3986784"/>
            <a:ext cx="0" cy="164592"/>
          </a:xfrm>
          <a:prstGeom prst="line">
            <a:avLst/>
          </a:prstGeom>
          <a:noFill/>
          <a:ln w="25400">
            <a:solidFill>
              <a:srgbClr val="FDBA74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1005840" y="3557016"/>
            <a:ext cx="45720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当面交易  </a:t>
            </a:r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线下验货付款，平台不涉及资金</a:t>
            </a:r>
            <a:endParaRPr lang="en-US" sz="1400" dirty="0"/>
          </a:p>
        </p:txBody>
      </p:sp>
      <p:sp>
        <p:nvSpPr>
          <p:cNvPr id="25" name="step-no"/>
          <p:cNvSpPr/>
          <p:nvPr/>
        </p:nvSpPr>
        <p:spPr>
          <a:xfrm>
            <a:off x="457200" y="4169664"/>
            <a:ext cx="384048" cy="38404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457200" y="416966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6</a:t>
            </a:r>
            <a:endParaRPr lang="en-US" sz="1400" dirty="0"/>
          </a:p>
        </p:txBody>
      </p:sp>
      <p:sp>
        <p:nvSpPr>
          <p:cNvPr id="27" name="Text 24"/>
          <p:cNvSpPr txBox="1"/>
          <p:nvPr/>
        </p:nvSpPr>
        <p:spPr>
          <a:xfrm>
            <a:off x="1005840" y="4142232"/>
            <a:ext cx="45720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确认收货  </a:t>
            </a:r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订单完成，商品变为“已售出”</a:t>
            </a:r>
            <a:endParaRPr lang="en-US" sz="1400" dirty="0"/>
          </a:p>
        </p:txBody>
      </p:sp>
      <p:sp>
        <p:nvSpPr>
          <p:cNvPr id="28" name="card"/>
          <p:cNvSpPr/>
          <p:nvPr/>
        </p:nvSpPr>
        <p:spPr>
          <a:xfrm>
            <a:off x="5669280" y="1188720"/>
            <a:ext cx="3017520" cy="3474720"/>
          </a:xfrm>
          <a:prstGeom prst="roundRect">
            <a:avLst>
              <a:gd name="adj" fmla="val 3636"/>
            </a:avLst>
          </a:prstGeom>
          <a:solidFill>
            <a:srgbClr val="FFF1E6"/>
          </a:solidFill>
          <a:ln w="12700">
            <a:solidFill>
              <a:srgbClr val="FED7AA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29" name="icon-badge-FaCodeBranch"/>
          <p:cNvSpPr/>
          <p:nvPr/>
        </p:nvSpPr>
        <p:spPr>
          <a:xfrm>
            <a:off x="5852160" y="1371600"/>
            <a:ext cx="402336" cy="402336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30" name="Image 0" descr="FaCodeBranch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52744" y="1472184"/>
            <a:ext cx="201168" cy="201168"/>
          </a:xfrm>
          <a:prstGeom prst="rect">
            <a:avLst/>
          </a:prstGeom>
        </p:spPr>
      </p:pic>
      <p:sp>
        <p:nvSpPr>
          <p:cNvPr id="31" name="Text 27"/>
          <p:cNvSpPr txBox="1"/>
          <p:nvPr/>
        </p:nvSpPr>
        <p:spPr>
          <a:xfrm>
            <a:off x="6355080" y="1371600"/>
            <a:ext cx="21945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异常与分支处理</a:t>
            </a:r>
            <a:endParaRPr lang="en-US" sz="1400" dirty="0"/>
          </a:p>
        </p:txBody>
      </p:sp>
      <p:sp>
        <p:nvSpPr>
          <p:cNvPr id="32" name="Text 28"/>
          <p:cNvSpPr txBox="1"/>
          <p:nvPr/>
        </p:nvSpPr>
        <p:spPr>
          <a:xfrm>
            <a:off x="5852160" y="1920240"/>
            <a:ext cx="2697480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审核驳回</a:t>
            </a:r>
            <a:endParaRPr lang="en-US" sz="13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100" dirty="0">
                <a:solidFill>
                  <a:schemeClr val="tx2"/>
                </a:solidFill>
              </a:rPr>
              <a:t>填写原因，卖家修改后重新提交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被他人抢先</a:t>
            </a:r>
            <a:endParaRPr lang="en-US" sz="13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100" dirty="0">
                <a:solidFill>
                  <a:schemeClr val="tx2"/>
                </a:solidFill>
              </a:rPr>
              <a:t>下单返回 409，提示已被下单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不能自买</a:t>
            </a:r>
            <a:endParaRPr lang="en-US" sz="13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100" dirty="0">
                <a:solidFill>
                  <a:schemeClr val="tx2"/>
                </a:solidFill>
              </a:rPr>
              <a:t>卖家无法购买自己的商品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取消订单</a:t>
            </a:r>
            <a:endParaRPr lang="en-US" sz="13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100" dirty="0">
                <a:solidFill>
                  <a:schemeClr val="tx2"/>
                </a:solidFill>
              </a:rPr>
              <a:t>完成前双方可取消，商品恢复在售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138160" y="4818888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rgbClr val="6B728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457200" y="201168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chemeClr val="accent1"/>
                </a:solidFill>
              </a:rPr>
              <a:t>03  系统设计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457200" y="457200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总体架构与技术选型</a:t>
            </a:r>
            <a:endParaRPr lang="en-US" sz="2600" dirty="0"/>
          </a:p>
        </p:txBody>
      </p:sp>
      <p:sp>
        <p:nvSpPr>
          <p:cNvPr id="5" name="frame"/>
          <p:cNvSpPr/>
          <p:nvPr/>
        </p:nvSpPr>
        <p:spPr>
          <a:xfrm>
            <a:off x="622344" y="1143000"/>
            <a:ext cx="3418752" cy="3566160"/>
          </a:xfrm>
          <a:prstGeom prst="roundRect">
            <a:avLst>
              <a:gd name="adj" fmla="val 2140"/>
            </a:avLst>
          </a:prstGeom>
          <a:solidFill>
            <a:schemeClr val="bg1"/>
          </a:solidFill>
          <a:ln w="9525">
            <a:solidFill>
              <a:srgbClr val="E5E7EB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pic>
        <p:nvPicPr>
          <p:cNvPr id="6" name="Image 0" descr="architectur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5496" y="1216152"/>
            <a:ext cx="3272448" cy="3419856"/>
          </a:xfrm>
          <a:prstGeom prst="rect">
            <a:avLst/>
          </a:prstGeom>
        </p:spPr>
      </p:pic>
      <p:sp>
        <p:nvSpPr>
          <p:cNvPr id="7" name="card"/>
          <p:cNvSpPr/>
          <p:nvPr/>
        </p:nvSpPr>
        <p:spPr>
          <a:xfrm>
            <a:off x="4480560" y="1188720"/>
            <a:ext cx="4206240" cy="676656"/>
          </a:xfrm>
          <a:prstGeom prst="roundRect">
            <a:avLst>
              <a:gd name="adj" fmla="val 16216"/>
            </a:avLst>
          </a:prstGeom>
          <a:solidFill>
            <a:schemeClr val="bg1"/>
          </a:solidFill>
          <a:ln w="9525">
            <a:solidFill>
              <a:srgbClr val="E5E7EB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8" name="icon-badge-FaDesktop"/>
          <p:cNvSpPr/>
          <p:nvPr/>
        </p:nvSpPr>
        <p:spPr>
          <a:xfrm>
            <a:off x="4617720" y="1325880"/>
            <a:ext cx="402336" cy="402336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9" name="Image 1" descr="FaDesktop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18304" y="1426464"/>
            <a:ext cx="201168" cy="201168"/>
          </a:xfrm>
          <a:prstGeom prst="rect">
            <a:avLst/>
          </a:prstGeom>
        </p:spPr>
      </p:pic>
      <p:sp>
        <p:nvSpPr>
          <p:cNvPr id="10" name="Text 5"/>
          <p:cNvSpPr txBox="1"/>
          <p:nvPr/>
        </p:nvSpPr>
        <p:spPr>
          <a:xfrm>
            <a:off x="5166360" y="1225296"/>
            <a:ext cx="34290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前端</a:t>
            </a:r>
            <a:endParaRPr lang="en-US" sz="1400" dirty="0"/>
          </a:p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Vue 3 · Element Plus · Vue Router · Axios · ECharts</a:t>
            </a:r>
            <a:endParaRPr lang="en-US" sz="1400" dirty="0"/>
          </a:p>
        </p:txBody>
      </p:sp>
      <p:sp>
        <p:nvSpPr>
          <p:cNvPr id="11" name="card"/>
          <p:cNvSpPr/>
          <p:nvPr/>
        </p:nvSpPr>
        <p:spPr>
          <a:xfrm>
            <a:off x="4480560" y="1975104"/>
            <a:ext cx="4206240" cy="676656"/>
          </a:xfrm>
          <a:prstGeom prst="roundRect">
            <a:avLst>
              <a:gd name="adj" fmla="val 16216"/>
            </a:avLst>
          </a:prstGeom>
          <a:solidFill>
            <a:schemeClr val="bg1"/>
          </a:solidFill>
          <a:ln w="9525">
            <a:solidFill>
              <a:srgbClr val="E5E7EB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12" name="icon-badge-FaServer"/>
          <p:cNvSpPr/>
          <p:nvPr/>
        </p:nvSpPr>
        <p:spPr>
          <a:xfrm>
            <a:off x="4617720" y="2112264"/>
            <a:ext cx="402336" cy="402336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3" name="Image 2" descr="FaServer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18304" y="2212848"/>
            <a:ext cx="201168" cy="201168"/>
          </a:xfrm>
          <a:prstGeom prst="rect">
            <a:avLst/>
          </a:prstGeom>
        </p:spPr>
      </p:pic>
      <p:sp>
        <p:nvSpPr>
          <p:cNvPr id="14" name="Text 8"/>
          <p:cNvSpPr txBox="1"/>
          <p:nvPr/>
        </p:nvSpPr>
        <p:spPr>
          <a:xfrm>
            <a:off x="5166360" y="2011680"/>
            <a:ext cx="34290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后端</a:t>
            </a:r>
            <a:endParaRPr lang="en-US" sz="1400" dirty="0"/>
          </a:p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Spring Boot 3.5 · Spring MVC · Spring Data JPA</a:t>
            </a:r>
            <a:endParaRPr lang="en-US" sz="1400" dirty="0"/>
          </a:p>
        </p:txBody>
      </p:sp>
      <p:sp>
        <p:nvSpPr>
          <p:cNvPr id="15" name="card"/>
          <p:cNvSpPr/>
          <p:nvPr/>
        </p:nvSpPr>
        <p:spPr>
          <a:xfrm>
            <a:off x="4480560" y="2761488"/>
            <a:ext cx="4206240" cy="676656"/>
          </a:xfrm>
          <a:prstGeom prst="roundRect">
            <a:avLst>
              <a:gd name="adj" fmla="val 16216"/>
            </a:avLst>
          </a:prstGeom>
          <a:solidFill>
            <a:schemeClr val="bg1"/>
          </a:solidFill>
          <a:ln w="9525">
            <a:solidFill>
              <a:srgbClr val="E5E7EB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16" name="icon-badge-FaLock"/>
          <p:cNvSpPr/>
          <p:nvPr/>
        </p:nvSpPr>
        <p:spPr>
          <a:xfrm>
            <a:off x="4617720" y="2898648"/>
            <a:ext cx="402336" cy="402336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7" name="Image 3" descr="FaLock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18304" y="2999232"/>
            <a:ext cx="201168" cy="201168"/>
          </a:xfrm>
          <a:prstGeom prst="rect">
            <a:avLst/>
          </a:prstGeom>
        </p:spPr>
      </p:pic>
      <p:sp>
        <p:nvSpPr>
          <p:cNvPr id="18" name="Text 11"/>
          <p:cNvSpPr txBox="1"/>
          <p:nvPr/>
        </p:nvSpPr>
        <p:spPr>
          <a:xfrm>
            <a:off x="5166360" y="2798064"/>
            <a:ext cx="34290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安全</a:t>
            </a:r>
            <a:endParaRPr lang="en-US" sz="1400" dirty="0"/>
          </a:p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JWT 无状态认证 · BCrypt 加密 · 拦截器鉴权</a:t>
            </a:r>
            <a:endParaRPr lang="en-US" sz="1400" dirty="0"/>
          </a:p>
        </p:txBody>
      </p:sp>
      <p:sp>
        <p:nvSpPr>
          <p:cNvPr id="19" name="card"/>
          <p:cNvSpPr/>
          <p:nvPr/>
        </p:nvSpPr>
        <p:spPr>
          <a:xfrm>
            <a:off x="4480560" y="3547872"/>
            <a:ext cx="4206240" cy="676656"/>
          </a:xfrm>
          <a:prstGeom prst="roundRect">
            <a:avLst>
              <a:gd name="adj" fmla="val 16216"/>
            </a:avLst>
          </a:prstGeom>
          <a:solidFill>
            <a:schemeClr val="bg1"/>
          </a:solidFill>
          <a:ln w="9525">
            <a:solidFill>
              <a:srgbClr val="E5E7EB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20" name="icon-badge-FaDatabase"/>
          <p:cNvSpPr/>
          <p:nvPr/>
        </p:nvSpPr>
        <p:spPr>
          <a:xfrm>
            <a:off x="4617720" y="3685032"/>
            <a:ext cx="402336" cy="402336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21" name="Image 4" descr="FaDatabase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718304" y="3785616"/>
            <a:ext cx="201168" cy="201168"/>
          </a:xfrm>
          <a:prstGeom prst="rect">
            <a:avLst/>
          </a:prstGeom>
        </p:spPr>
      </p:pic>
      <p:sp>
        <p:nvSpPr>
          <p:cNvPr id="22" name="Text 14"/>
          <p:cNvSpPr txBox="1"/>
          <p:nvPr/>
        </p:nvSpPr>
        <p:spPr>
          <a:xfrm>
            <a:off x="5166360" y="3584448"/>
            <a:ext cx="34290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数据</a:t>
            </a:r>
            <a:endParaRPr lang="en-US" sz="1400" dirty="0"/>
          </a:p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H2 文件数据库（默认）· MySQL 8（可切换）</a:t>
            </a:r>
            <a:endParaRPr lang="en-US" sz="1400" dirty="0"/>
          </a:p>
        </p:txBody>
      </p:sp>
      <p:sp>
        <p:nvSpPr>
          <p:cNvPr id="23" name="Text 15"/>
          <p:cNvSpPr txBox="1"/>
          <p:nvPr/>
        </p:nvSpPr>
        <p:spPr>
          <a:xfrm>
            <a:off x="4480560" y="4343400"/>
            <a:ext cx="4206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REST 接口 35 个 · JDK 17+ · 单个 jar 一条命令启动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138160" y="4818888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rgbClr val="6B728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457200" y="201168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chemeClr val="accent1"/>
                </a:solidFill>
              </a:rPr>
              <a:t>03  系统设计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457200" y="457200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数据库设计：7 张表</a:t>
            </a:r>
            <a:endParaRPr lang="en-US" sz="2600" dirty="0"/>
          </a:p>
        </p:txBody>
      </p:sp>
      <p:sp>
        <p:nvSpPr>
          <p:cNvPr id="5" name="frame"/>
          <p:cNvSpPr/>
          <p:nvPr/>
        </p:nvSpPr>
        <p:spPr>
          <a:xfrm>
            <a:off x="568336" y="1143000"/>
            <a:ext cx="3206728" cy="3566160"/>
          </a:xfrm>
          <a:prstGeom prst="roundRect">
            <a:avLst>
              <a:gd name="adj" fmla="val 2281"/>
            </a:avLst>
          </a:prstGeom>
          <a:solidFill>
            <a:schemeClr val="bg1"/>
          </a:solidFill>
          <a:ln w="9525">
            <a:solidFill>
              <a:srgbClr val="E5E7EB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pic>
        <p:nvPicPr>
          <p:cNvPr id="6" name="Image 0" descr="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1488" y="1216152"/>
            <a:ext cx="3060424" cy="3419856"/>
          </a:xfrm>
          <a:prstGeom prst="rect">
            <a:avLst/>
          </a:prstGeom>
        </p:spPr>
      </p:pic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160520" y="1188720"/>
          <a:ext cx="4526280" cy="914400"/>
        </p:xfrm>
        <a:graphic>
          <a:graphicData uri="http://schemas.openxmlformats.org/drawingml/2006/table">
            <a:tbl>
              <a:tblPr/>
              <a:tblGrid>
                <a:gridCol w="1143000"/>
                <a:gridCol w="777240"/>
                <a:gridCol w="260604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表名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说明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关键设计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users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用户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用户名唯一、BCrypt 密码、角色、状态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category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分类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名称唯一、图标、排序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goods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商品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价格、成色、状态、浏览量、驳回原因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goods_image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商品图片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一个商品最多 6 张，有序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favorite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收藏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(user_id, goods_id) 联合唯一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comment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留言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可回复指定用户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trade_order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订单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订单号唯一，保存商品快照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138160" y="4818888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rgbClr val="6B728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457200" y="201168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chemeClr val="accent1"/>
                </a:solidFill>
              </a:rPr>
              <a:t>03  系统设计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457200" y="457200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关键设计 ①：JWT 无状态认证与权限控制</a:t>
            </a:r>
            <a:endParaRPr lang="en-US" sz="2600" dirty="0"/>
          </a:p>
        </p:txBody>
      </p:sp>
      <p:sp>
        <p:nvSpPr>
          <p:cNvPr id="5" name="card"/>
          <p:cNvSpPr/>
          <p:nvPr/>
        </p:nvSpPr>
        <p:spPr>
          <a:xfrm>
            <a:off x="457200" y="1188720"/>
            <a:ext cx="4023360" cy="749808"/>
          </a:xfrm>
          <a:prstGeom prst="roundRect">
            <a:avLst>
              <a:gd name="adj" fmla="val 14634"/>
            </a:avLst>
          </a:prstGeom>
          <a:solidFill>
            <a:schemeClr val="bg1"/>
          </a:solidFill>
          <a:ln w="9525">
            <a:solidFill>
              <a:srgbClr val="E5E7EB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6" name="icon-badge-FaKey"/>
          <p:cNvSpPr/>
          <p:nvPr/>
        </p:nvSpPr>
        <p:spPr>
          <a:xfrm>
            <a:off x="621792" y="1362456"/>
            <a:ext cx="402336" cy="402336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7" name="Image 0" descr="FaKey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22376" y="1463040"/>
            <a:ext cx="201168" cy="201168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1143000" y="1225296"/>
            <a:ext cx="324612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登录签发</a:t>
            </a:r>
            <a:endParaRPr lang="en-US" sz="1400" dirty="0"/>
          </a:p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BCrypt 校验密码，签发 JWT（仅含用户 ID）</a:t>
            </a:r>
            <a:endParaRPr lang="en-US" sz="1400" dirty="0"/>
          </a:p>
        </p:txBody>
      </p:sp>
      <p:sp>
        <p:nvSpPr>
          <p:cNvPr id="9" name="card"/>
          <p:cNvSpPr/>
          <p:nvPr/>
        </p:nvSpPr>
        <p:spPr>
          <a:xfrm>
            <a:off x="457200" y="2057400"/>
            <a:ext cx="4023360" cy="749808"/>
          </a:xfrm>
          <a:prstGeom prst="roundRect">
            <a:avLst>
              <a:gd name="adj" fmla="val 14634"/>
            </a:avLst>
          </a:prstGeom>
          <a:solidFill>
            <a:schemeClr val="bg1"/>
          </a:solidFill>
          <a:ln w="9525">
            <a:solidFill>
              <a:srgbClr val="E5E7EB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10" name="icon-badge-FaPaperPlane"/>
          <p:cNvSpPr/>
          <p:nvPr/>
        </p:nvSpPr>
        <p:spPr>
          <a:xfrm>
            <a:off x="621792" y="2231136"/>
            <a:ext cx="402336" cy="402336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1" name="Image 1" descr="FaPaperPlan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2376" y="2331720"/>
            <a:ext cx="201168" cy="201168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1143000" y="2093976"/>
            <a:ext cx="324612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携带令牌</a:t>
            </a:r>
            <a:endParaRPr lang="en-US" sz="1400" dirty="0"/>
          </a:p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Axios 拦截器自动添加 Bearer Token</a:t>
            </a:r>
            <a:endParaRPr lang="en-US" sz="1400" dirty="0"/>
          </a:p>
        </p:txBody>
      </p:sp>
      <p:sp>
        <p:nvSpPr>
          <p:cNvPr id="13" name="card"/>
          <p:cNvSpPr/>
          <p:nvPr/>
        </p:nvSpPr>
        <p:spPr>
          <a:xfrm>
            <a:off x="457200" y="2926080"/>
            <a:ext cx="4023360" cy="749808"/>
          </a:xfrm>
          <a:prstGeom prst="roundRect">
            <a:avLst>
              <a:gd name="adj" fmla="val 14634"/>
            </a:avLst>
          </a:prstGeom>
          <a:solidFill>
            <a:schemeClr val="bg1"/>
          </a:solidFill>
          <a:ln w="9525">
            <a:solidFill>
              <a:srgbClr val="E5E7EB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14" name="icon-badge-FaShieldHalved"/>
          <p:cNvSpPr/>
          <p:nvPr/>
        </p:nvSpPr>
        <p:spPr>
          <a:xfrm>
            <a:off x="621792" y="3099816"/>
            <a:ext cx="402336" cy="402336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5" name="Image 2" descr="FaShieldHalved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2376" y="3200400"/>
            <a:ext cx="201168" cy="201168"/>
          </a:xfrm>
          <a:prstGeom prst="rect">
            <a:avLst/>
          </a:prstGeom>
        </p:spPr>
      </p:pic>
      <p:sp>
        <p:nvSpPr>
          <p:cNvPr id="16" name="Text 10"/>
          <p:cNvSpPr txBox="1"/>
          <p:nvPr/>
        </p:nvSpPr>
        <p:spPr>
          <a:xfrm>
            <a:off x="1143000" y="2962656"/>
            <a:ext cx="324612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统一拦截</a:t>
            </a:r>
            <a:endParaRPr lang="en-US" sz="1400" dirty="0"/>
          </a:p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AuthInterceptor 解析令牌并查库，封禁立即生效</a:t>
            </a:r>
            <a:endParaRPr lang="en-US" sz="1400" dirty="0"/>
          </a:p>
        </p:txBody>
      </p:sp>
      <p:sp>
        <p:nvSpPr>
          <p:cNvPr id="17" name="card"/>
          <p:cNvSpPr/>
          <p:nvPr/>
        </p:nvSpPr>
        <p:spPr>
          <a:xfrm>
            <a:off x="457200" y="3794760"/>
            <a:ext cx="4023360" cy="749808"/>
          </a:xfrm>
          <a:prstGeom prst="roundRect">
            <a:avLst>
              <a:gd name="adj" fmla="val 14634"/>
            </a:avLst>
          </a:prstGeom>
          <a:solidFill>
            <a:schemeClr val="bg1"/>
          </a:solidFill>
          <a:ln w="9525">
            <a:solidFill>
              <a:srgbClr val="E5E7EB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18" name="icon-badge-FaUserLock"/>
          <p:cNvSpPr/>
          <p:nvPr/>
        </p:nvSpPr>
        <p:spPr>
          <a:xfrm>
            <a:off x="621792" y="3968496"/>
            <a:ext cx="402336" cy="402336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9" name="Image 3" descr="FaUserLock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22376" y="4069080"/>
            <a:ext cx="201168" cy="201168"/>
          </a:xfrm>
          <a:prstGeom prst="rect">
            <a:avLst/>
          </a:prstGeom>
        </p:spPr>
      </p:pic>
      <p:sp>
        <p:nvSpPr>
          <p:cNvPr id="20" name="Text 13"/>
          <p:cNvSpPr txBox="1"/>
          <p:nvPr/>
        </p:nvSpPr>
        <p:spPr>
          <a:xfrm>
            <a:off x="1143000" y="3831336"/>
            <a:ext cx="324612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权限判定</a:t>
            </a:r>
            <a:endParaRPr lang="en-US" sz="1400" dirty="0"/>
          </a:p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@PublicApi 游客可访问；/api/admin/** 仅管理员</a:t>
            </a:r>
            <a:endParaRPr lang="en-US" sz="1400" dirty="0"/>
          </a:p>
        </p:txBody>
      </p:sp>
      <p:sp>
        <p:nvSpPr>
          <p:cNvPr id="21" name="frame"/>
          <p:cNvSpPr/>
          <p:nvPr/>
        </p:nvSpPr>
        <p:spPr>
          <a:xfrm>
            <a:off x="4868903" y="1143000"/>
            <a:ext cx="3612435" cy="3566160"/>
          </a:xfrm>
          <a:prstGeom prst="roundRect">
            <a:avLst>
              <a:gd name="adj" fmla="val 2051"/>
            </a:avLst>
          </a:prstGeom>
          <a:solidFill>
            <a:schemeClr val="bg1"/>
          </a:solidFill>
          <a:ln w="9525">
            <a:solidFill>
              <a:srgbClr val="E5E7EB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pic>
        <p:nvPicPr>
          <p:cNvPr id="22" name="Image 4" descr="seq-login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942055" y="1216152"/>
            <a:ext cx="3466131" cy="3419856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138160" y="4818888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rgbClr val="6B728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457200" y="201168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chemeClr val="accent1"/>
                </a:solidFill>
              </a:rPr>
              <a:t>03  系统设计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457200" y="457200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关键设计 ②：条件更新防止“超卖”</a:t>
            </a:r>
            <a:endParaRPr lang="en-US" sz="2600" dirty="0"/>
          </a:p>
        </p:txBody>
      </p:sp>
      <p:sp>
        <p:nvSpPr>
          <p:cNvPr id="5" name="card"/>
          <p:cNvSpPr/>
          <p:nvPr/>
        </p:nvSpPr>
        <p:spPr>
          <a:xfrm>
            <a:off x="457200" y="1188720"/>
            <a:ext cx="4846320" cy="2331720"/>
          </a:xfrm>
          <a:prstGeom prst="roundRect">
            <a:avLst>
              <a:gd name="adj" fmla="val 4706"/>
            </a:avLst>
          </a:prstGeom>
          <a:solidFill>
            <a:srgbClr val="111827"/>
          </a:solidFill>
          <a:ln w="12700">
            <a:solidFill>
              <a:srgbClr val="374151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6" name="Text 3"/>
          <p:cNvSpPr txBox="1"/>
          <p:nvPr/>
        </p:nvSpPr>
        <p:spPr>
          <a:xfrm>
            <a:off x="640080" y="1325880"/>
            <a:ext cx="452628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9CA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GoodsRepository：带条件的原子更新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DBA7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@Modifying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@Query("update Goods g set g.status = :to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where g.id = :id and g.status = :from")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int compareAndSetStatus(id, from, to);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9CA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OrderService#create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 (compareAndSetStatus(id, ON_SALE, RESERVED) == 0)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86EFA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throw conflict("手慢了，商品已被其他同学下单");</a:t>
            </a:r>
            <a:endParaRPr lang="en-US" sz="1100" dirty="0"/>
          </a:p>
        </p:txBody>
      </p:sp>
      <p:sp>
        <p:nvSpPr>
          <p:cNvPr id="7" name="Text 4"/>
          <p:cNvSpPr txBox="1"/>
          <p:nvPr/>
        </p:nvSpPr>
        <p:spPr>
          <a:xfrm>
            <a:off x="457200" y="3657600"/>
            <a:ext cx="4846320" cy="100584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检查与修改合并为一条 SQL，由数据库保证原子性</a:t>
            </a:r>
            <a:endParaRPr lang="en-US" sz="13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返回 0 行 → HTTP 409，前端提示“已被抢先下单”</a:t>
            </a:r>
            <a:endParaRPr lang="en-US" sz="13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订单保存商品标题 / 图片 / 价格快照</a:t>
            </a:r>
            <a:endParaRPr lang="en-US" sz="1300" dirty="0"/>
          </a:p>
        </p:txBody>
      </p:sp>
      <p:sp>
        <p:nvSpPr>
          <p:cNvPr id="8" name="card"/>
          <p:cNvSpPr/>
          <p:nvPr/>
        </p:nvSpPr>
        <p:spPr>
          <a:xfrm>
            <a:off x="5577840" y="1188720"/>
            <a:ext cx="3108960" cy="3474720"/>
          </a:xfrm>
          <a:prstGeom prst="roundRect">
            <a:avLst>
              <a:gd name="adj" fmla="val 3529"/>
            </a:avLst>
          </a:prstGeom>
          <a:solidFill>
            <a:srgbClr val="FFF1E6"/>
          </a:solidFill>
          <a:ln w="12700">
            <a:solidFill>
              <a:srgbClr val="FED7AA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9" name="icon-badge-FaBolt"/>
          <p:cNvSpPr/>
          <p:nvPr/>
        </p:nvSpPr>
        <p:spPr>
          <a:xfrm>
            <a:off x="5806440" y="1371600"/>
            <a:ext cx="438912" cy="438912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0" name="Image 0" descr="FaBol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16168" y="1481328"/>
            <a:ext cx="219456" cy="219456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6355080" y="1371600"/>
            <a:ext cx="22402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并发测试 ConcurrentOrderTest</a:t>
            </a:r>
            <a:endParaRPr lang="en-US" sz="1200" dirty="0"/>
          </a:p>
        </p:txBody>
      </p:sp>
      <p:sp>
        <p:nvSpPr>
          <p:cNvPr id="12" name="Text 8"/>
          <p:cNvSpPr txBox="1"/>
          <p:nvPr/>
        </p:nvSpPr>
        <p:spPr>
          <a:xfrm>
            <a:off x="5806440" y="1965960"/>
            <a:ext cx="2743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200" b="1" dirty="0">
                <a:solidFill>
                  <a:schemeClr val="accent1"/>
                </a:solidFill>
              </a:rPr>
              <a:t>10</a:t>
            </a:r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 个买家同时抢购</a:t>
            </a:r>
            <a:endParaRPr lang="en-US" sz="3200" dirty="0"/>
          </a:p>
        </p:txBody>
      </p:sp>
      <p:sp>
        <p:nvSpPr>
          <p:cNvPr id="13" name="Text 9"/>
          <p:cNvSpPr txBox="1"/>
          <p:nvPr/>
        </p:nvSpPr>
        <p:spPr>
          <a:xfrm>
            <a:off x="5806440" y="2551176"/>
            <a:ext cx="2743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同一件商品，线程池并发提交</a:t>
            </a:r>
            <a:endParaRPr lang="en-US" sz="1100" dirty="0"/>
          </a:p>
        </p:txBody>
      </p:sp>
      <p:sp>
        <p:nvSpPr>
          <p:cNvPr id="14" name="Text 10"/>
          <p:cNvSpPr txBox="1"/>
          <p:nvPr/>
        </p:nvSpPr>
        <p:spPr>
          <a:xfrm>
            <a:off x="5806440" y="2834640"/>
            <a:ext cx="2743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200" b="1" dirty="0">
                <a:solidFill>
                  <a:schemeClr val="accent3"/>
                </a:solidFill>
              </a:rPr>
              <a:t>1</a:t>
            </a:r>
            <a:pPr indent="0" marL="0">
              <a:buNone/>
            </a:pPr>
            <a:r>
              <a:rPr lang="en-US" sz="1400" b="1" dirty="0">
                <a:solidFill>
                  <a:schemeClr val="accent3"/>
                </a:solidFill>
              </a:rPr>
              <a:t> 人成功</a:t>
            </a:r>
            <a:endParaRPr lang="en-US" sz="3200" dirty="0"/>
          </a:p>
        </p:txBody>
      </p:sp>
      <p:sp>
        <p:nvSpPr>
          <p:cNvPr id="15" name="Text 11"/>
          <p:cNvSpPr txBox="1"/>
          <p:nvPr/>
        </p:nvSpPr>
        <p:spPr>
          <a:xfrm>
            <a:off x="5806440" y="3419856"/>
            <a:ext cx="2743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其余 9 人返回 409 Conflict</a:t>
            </a:r>
            <a:endParaRPr lang="en-US" sz="1100" dirty="0"/>
          </a:p>
        </p:txBody>
      </p:sp>
      <p:sp>
        <p:nvSpPr>
          <p:cNvPr id="16" name="Text 12"/>
          <p:cNvSpPr txBox="1"/>
          <p:nvPr/>
        </p:nvSpPr>
        <p:spPr>
          <a:xfrm>
            <a:off x="5806440" y="3703320"/>
            <a:ext cx="2743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200" b="1" dirty="0">
                <a:solidFill>
                  <a:schemeClr val="accent1"/>
                </a:solidFill>
              </a:rPr>
              <a:t>5</a:t>
            </a:r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 轮重复全部通过</a:t>
            </a:r>
            <a:endParaRPr lang="en-US" sz="3200" dirty="0"/>
          </a:p>
        </p:txBody>
      </p:sp>
      <p:sp>
        <p:nvSpPr>
          <p:cNvPr id="17" name="Text 13"/>
          <p:cNvSpPr txBox="1"/>
          <p:nvPr/>
        </p:nvSpPr>
        <p:spPr>
          <a:xfrm>
            <a:off x="5806440" y="4288536"/>
            <a:ext cx="2743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每轮只产生 1 个有效订单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138160" y="4818888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rgbClr val="6B728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457200" y="201168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chemeClr val="accent1"/>
                </a:solidFill>
              </a:rPr>
              <a:t>03  系统设计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457200" y="457200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商品与订单状态机</a:t>
            </a:r>
            <a:endParaRPr lang="en-US" sz="2600" dirty="0"/>
          </a:p>
        </p:txBody>
      </p:sp>
      <p:sp>
        <p:nvSpPr>
          <p:cNvPr id="5" name="frame"/>
          <p:cNvSpPr/>
          <p:nvPr/>
        </p:nvSpPr>
        <p:spPr>
          <a:xfrm>
            <a:off x="995333" y="1143000"/>
            <a:ext cx="3129974" cy="3246120"/>
          </a:xfrm>
          <a:prstGeom prst="roundRect">
            <a:avLst>
              <a:gd name="adj" fmla="val 2337"/>
            </a:avLst>
          </a:prstGeom>
          <a:solidFill>
            <a:schemeClr val="bg1"/>
          </a:solidFill>
          <a:ln w="9525">
            <a:solidFill>
              <a:srgbClr val="E5E7EB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pic>
        <p:nvPicPr>
          <p:cNvPr id="6" name="Image 0" descr="state-good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68485" y="1216152"/>
            <a:ext cx="2983670" cy="3099816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457200" y="4425696"/>
            <a:ext cx="4206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</a:rPr>
              <a:t>商品状态图（6 种状态）</a:t>
            </a:r>
            <a:endParaRPr lang="en-US" sz="1100" dirty="0"/>
          </a:p>
        </p:txBody>
      </p:sp>
      <p:sp>
        <p:nvSpPr>
          <p:cNvPr id="8" name="frame"/>
          <p:cNvSpPr/>
          <p:nvPr/>
        </p:nvSpPr>
        <p:spPr>
          <a:xfrm>
            <a:off x="5185494" y="1143000"/>
            <a:ext cx="3253571" cy="3246120"/>
          </a:xfrm>
          <a:prstGeom prst="roundRect">
            <a:avLst>
              <a:gd name="adj" fmla="val 2254"/>
            </a:avLst>
          </a:prstGeom>
          <a:solidFill>
            <a:schemeClr val="bg1"/>
          </a:solidFill>
          <a:ln w="9525">
            <a:solidFill>
              <a:srgbClr val="E5E7EB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pic>
        <p:nvPicPr>
          <p:cNvPr id="9" name="Image 1" descr="state-order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58646" y="1216152"/>
            <a:ext cx="3107267" cy="3099816"/>
          </a:xfrm>
          <a:prstGeom prst="rect">
            <a:avLst/>
          </a:prstGeom>
        </p:spPr>
      </p:pic>
      <p:sp>
        <p:nvSpPr>
          <p:cNvPr id="10" name="Text 5"/>
          <p:cNvSpPr txBox="1"/>
          <p:nvPr/>
        </p:nvSpPr>
        <p:spPr>
          <a:xfrm>
            <a:off x="4937760" y="4425696"/>
            <a:ext cx="3749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</a:rPr>
              <a:t>订单状态图（4 种状态，联动商品状态）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138160" y="4818888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rgbClr val="6B728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457200" y="201168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chemeClr val="accent1"/>
                </a:solidFill>
              </a:rPr>
              <a:t>04  系统实现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457200" y="457200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项目结构与开发规模</a:t>
            </a:r>
            <a:endParaRPr lang="en-US" sz="2600" dirty="0"/>
          </a:p>
        </p:txBody>
      </p:sp>
      <p:sp>
        <p:nvSpPr>
          <p:cNvPr id="5" name="card"/>
          <p:cNvSpPr/>
          <p:nvPr/>
        </p:nvSpPr>
        <p:spPr>
          <a:xfrm>
            <a:off x="457200" y="1188720"/>
            <a:ext cx="3931920" cy="3474720"/>
          </a:xfrm>
          <a:prstGeom prst="roundRect">
            <a:avLst>
              <a:gd name="adj" fmla="val 3158"/>
            </a:avLst>
          </a:prstGeom>
          <a:solidFill>
            <a:srgbClr val="111827"/>
          </a:solidFill>
          <a:ln w="12700">
            <a:solidFill>
              <a:srgbClr val="374151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6" name="Text 3"/>
          <p:cNvSpPr txBox="1"/>
          <p:nvPr/>
        </p:nvSpPr>
        <p:spPr>
          <a:xfrm>
            <a:off x="640080" y="1325880"/>
            <a:ext cx="3657600" cy="3246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FDBA7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campus-market/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├─ src/main/java/com/campus/market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D1D5D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│   ├─ controller   REST 接口（含 admin）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D1D5D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│   ├─ service      业务规则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D1D5D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│   ├─ repository   Spring Data JPA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D1D5D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│   ├─ entity / dto 实体与数据传输对象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D1D5D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│   ├─ security     JWT + 拦截器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D1D5D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│   └─ init         演示数据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├─ src/main/resources/static  Vue3 前端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├─ src/test/java   单元 / 集成 / 并发测试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├─ e2e             端到端系统测试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└─ docs            文档、设计图、截图</a:t>
            </a:r>
            <a:endParaRPr lang="en-US" sz="1050" dirty="0"/>
          </a:p>
        </p:txBody>
      </p:sp>
      <p:sp>
        <p:nvSpPr>
          <p:cNvPr id="7" name="card"/>
          <p:cNvSpPr/>
          <p:nvPr/>
        </p:nvSpPr>
        <p:spPr>
          <a:xfrm>
            <a:off x="4663440" y="1188720"/>
            <a:ext cx="1920240" cy="1051560"/>
          </a:xfrm>
          <a:prstGeom prst="roundRect">
            <a:avLst>
              <a:gd name="adj" fmla="val 10435"/>
            </a:avLst>
          </a:prstGeom>
          <a:solidFill>
            <a:schemeClr val="bg1"/>
          </a:solidFill>
          <a:ln w="9525">
            <a:solidFill>
              <a:srgbClr val="E5E7EB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8" name="icon-badge-FaJava"/>
          <p:cNvSpPr/>
          <p:nvPr/>
        </p:nvSpPr>
        <p:spPr>
          <a:xfrm>
            <a:off x="6080760" y="1325880"/>
            <a:ext cx="347472" cy="347472"/>
          </a:xfrm>
          <a:prstGeom prst="ellipse">
            <a:avLst/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pic>
        <p:nvPicPr>
          <p:cNvPr id="9" name="Image 0" descr="FaJava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167628" y="1412748"/>
            <a:ext cx="173736" cy="173736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4828032" y="1234440"/>
            <a:ext cx="1737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200" b="1" dirty="0">
                <a:solidFill>
                  <a:schemeClr val="accent1"/>
                </a:solidFill>
              </a:rPr>
              <a:t>3407</a:t>
            </a:r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 行</a:t>
            </a:r>
            <a:endParaRPr lang="en-US" sz="3200" dirty="0"/>
          </a:p>
        </p:txBody>
      </p:sp>
      <p:sp>
        <p:nvSpPr>
          <p:cNvPr id="11" name="Text 7"/>
          <p:cNvSpPr txBox="1"/>
          <p:nvPr/>
        </p:nvSpPr>
        <p:spPr>
          <a:xfrm>
            <a:off x="4828032" y="1819656"/>
            <a:ext cx="1737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后端 Java（73 个文件）</a:t>
            </a:r>
            <a:endParaRPr lang="en-US" sz="1100" dirty="0"/>
          </a:p>
        </p:txBody>
      </p:sp>
      <p:sp>
        <p:nvSpPr>
          <p:cNvPr id="12" name="card"/>
          <p:cNvSpPr/>
          <p:nvPr/>
        </p:nvSpPr>
        <p:spPr>
          <a:xfrm>
            <a:off x="6720840" y="1188720"/>
            <a:ext cx="1920240" cy="1051560"/>
          </a:xfrm>
          <a:prstGeom prst="roundRect">
            <a:avLst>
              <a:gd name="adj" fmla="val 10435"/>
            </a:avLst>
          </a:prstGeom>
          <a:solidFill>
            <a:schemeClr val="bg1"/>
          </a:solidFill>
          <a:ln w="9525">
            <a:solidFill>
              <a:srgbClr val="E5E7EB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13" name="icon-badge-FaVuejs"/>
          <p:cNvSpPr/>
          <p:nvPr/>
        </p:nvSpPr>
        <p:spPr>
          <a:xfrm>
            <a:off x="8138160" y="1325880"/>
            <a:ext cx="347472" cy="347472"/>
          </a:xfrm>
          <a:prstGeom prst="ellipse">
            <a:avLst/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pic>
        <p:nvPicPr>
          <p:cNvPr id="14" name="Image 1" descr="FaVuejs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5028" y="1412748"/>
            <a:ext cx="173736" cy="173736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6885432" y="1234440"/>
            <a:ext cx="1737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200" b="1" dirty="0">
                <a:solidFill>
                  <a:schemeClr val="accent1"/>
                </a:solidFill>
              </a:rPr>
              <a:t>2796</a:t>
            </a:r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 行</a:t>
            </a:r>
            <a:endParaRPr lang="en-US" sz="3200" dirty="0"/>
          </a:p>
        </p:txBody>
      </p:sp>
      <p:sp>
        <p:nvSpPr>
          <p:cNvPr id="16" name="Text 11"/>
          <p:cNvSpPr txBox="1"/>
          <p:nvPr/>
        </p:nvSpPr>
        <p:spPr>
          <a:xfrm>
            <a:off x="6885432" y="1819656"/>
            <a:ext cx="1737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前端代码（23 个模块）</a:t>
            </a:r>
            <a:endParaRPr lang="en-US" sz="1100" dirty="0"/>
          </a:p>
        </p:txBody>
      </p:sp>
      <p:sp>
        <p:nvSpPr>
          <p:cNvPr id="17" name="card"/>
          <p:cNvSpPr/>
          <p:nvPr/>
        </p:nvSpPr>
        <p:spPr>
          <a:xfrm>
            <a:off x="4663440" y="2377440"/>
            <a:ext cx="1920240" cy="1051560"/>
          </a:xfrm>
          <a:prstGeom prst="roundRect">
            <a:avLst>
              <a:gd name="adj" fmla="val 10435"/>
            </a:avLst>
          </a:prstGeom>
          <a:solidFill>
            <a:schemeClr val="bg1"/>
          </a:solidFill>
          <a:ln w="9525">
            <a:solidFill>
              <a:srgbClr val="E5E7EB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18" name="icon-badge-FaVial"/>
          <p:cNvSpPr/>
          <p:nvPr/>
        </p:nvSpPr>
        <p:spPr>
          <a:xfrm>
            <a:off x="6080760" y="2514600"/>
            <a:ext cx="347472" cy="347472"/>
          </a:xfrm>
          <a:prstGeom prst="ellipse">
            <a:avLst/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pic>
        <p:nvPicPr>
          <p:cNvPr id="19" name="Image 2" descr="FaVial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67628" y="2601468"/>
            <a:ext cx="173736" cy="173736"/>
          </a:xfrm>
          <a:prstGeom prst="rect">
            <a:avLst/>
          </a:prstGeom>
        </p:spPr>
      </p:pic>
      <p:sp>
        <p:nvSpPr>
          <p:cNvPr id="20" name="Text 14"/>
          <p:cNvSpPr txBox="1"/>
          <p:nvPr/>
        </p:nvSpPr>
        <p:spPr>
          <a:xfrm>
            <a:off x="4828032" y="2423160"/>
            <a:ext cx="1737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200" b="1" dirty="0">
                <a:solidFill>
                  <a:schemeClr val="accent1"/>
                </a:solidFill>
              </a:rPr>
              <a:t>2133</a:t>
            </a:r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 行</a:t>
            </a:r>
            <a:endParaRPr lang="en-US" sz="3200" dirty="0"/>
          </a:p>
        </p:txBody>
      </p:sp>
      <p:sp>
        <p:nvSpPr>
          <p:cNvPr id="21" name="Text 15"/>
          <p:cNvSpPr txBox="1"/>
          <p:nvPr/>
        </p:nvSpPr>
        <p:spPr>
          <a:xfrm>
            <a:off x="4828032" y="3008376"/>
            <a:ext cx="1737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测试代码（16 个文件）</a:t>
            </a:r>
            <a:endParaRPr lang="en-US" sz="1100" dirty="0"/>
          </a:p>
        </p:txBody>
      </p:sp>
      <p:sp>
        <p:nvSpPr>
          <p:cNvPr id="22" name="card"/>
          <p:cNvSpPr/>
          <p:nvPr/>
        </p:nvSpPr>
        <p:spPr>
          <a:xfrm>
            <a:off x="6720840" y="2377440"/>
            <a:ext cx="1920240" cy="1051560"/>
          </a:xfrm>
          <a:prstGeom prst="roundRect">
            <a:avLst>
              <a:gd name="adj" fmla="val 10435"/>
            </a:avLst>
          </a:prstGeom>
          <a:solidFill>
            <a:schemeClr val="bg1"/>
          </a:solidFill>
          <a:ln w="9525">
            <a:solidFill>
              <a:srgbClr val="E5E7EB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23" name="icon-badge-FaPlug"/>
          <p:cNvSpPr/>
          <p:nvPr/>
        </p:nvSpPr>
        <p:spPr>
          <a:xfrm>
            <a:off x="8138160" y="2514600"/>
            <a:ext cx="347472" cy="347472"/>
          </a:xfrm>
          <a:prstGeom prst="ellipse">
            <a:avLst/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pic>
        <p:nvPicPr>
          <p:cNvPr id="24" name="Image 3" descr="FaPlu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25028" y="2601468"/>
            <a:ext cx="173736" cy="173736"/>
          </a:xfrm>
          <a:prstGeom prst="rect">
            <a:avLst/>
          </a:prstGeom>
        </p:spPr>
      </p:pic>
      <p:sp>
        <p:nvSpPr>
          <p:cNvPr id="25" name="Text 18"/>
          <p:cNvSpPr txBox="1"/>
          <p:nvPr/>
        </p:nvSpPr>
        <p:spPr>
          <a:xfrm>
            <a:off x="6885432" y="2423160"/>
            <a:ext cx="1737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200" b="1" dirty="0">
                <a:solidFill>
                  <a:schemeClr val="accent1"/>
                </a:solidFill>
              </a:rPr>
              <a:t>35</a:t>
            </a:r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 个</a:t>
            </a:r>
            <a:endParaRPr lang="en-US" sz="3200" dirty="0"/>
          </a:p>
        </p:txBody>
      </p:sp>
      <p:sp>
        <p:nvSpPr>
          <p:cNvPr id="26" name="Text 19"/>
          <p:cNvSpPr txBox="1"/>
          <p:nvPr/>
        </p:nvSpPr>
        <p:spPr>
          <a:xfrm>
            <a:off x="6885432" y="3008376"/>
            <a:ext cx="1737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REST 接口</a:t>
            </a:r>
            <a:endParaRPr lang="en-US" sz="1100" dirty="0"/>
          </a:p>
        </p:txBody>
      </p:sp>
      <p:sp>
        <p:nvSpPr>
          <p:cNvPr id="27" name="card"/>
          <p:cNvSpPr/>
          <p:nvPr/>
        </p:nvSpPr>
        <p:spPr>
          <a:xfrm>
            <a:off x="4663440" y="3566160"/>
            <a:ext cx="1920240" cy="1051560"/>
          </a:xfrm>
          <a:prstGeom prst="roundRect">
            <a:avLst>
              <a:gd name="adj" fmla="val 10435"/>
            </a:avLst>
          </a:prstGeom>
          <a:solidFill>
            <a:schemeClr val="bg1"/>
          </a:solidFill>
          <a:ln w="9525">
            <a:solidFill>
              <a:srgbClr val="E5E7EB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28" name="icon-badge-FaDiagramProject"/>
          <p:cNvSpPr/>
          <p:nvPr/>
        </p:nvSpPr>
        <p:spPr>
          <a:xfrm>
            <a:off x="6080760" y="3703320"/>
            <a:ext cx="347472" cy="347472"/>
          </a:xfrm>
          <a:prstGeom prst="ellipse">
            <a:avLst/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pic>
        <p:nvPicPr>
          <p:cNvPr id="29" name="Image 4" descr="FaDiagramProject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167628" y="3790188"/>
            <a:ext cx="173736" cy="173736"/>
          </a:xfrm>
          <a:prstGeom prst="rect">
            <a:avLst/>
          </a:prstGeom>
        </p:spPr>
      </p:pic>
      <p:sp>
        <p:nvSpPr>
          <p:cNvPr id="30" name="Text 22"/>
          <p:cNvSpPr txBox="1"/>
          <p:nvPr/>
        </p:nvSpPr>
        <p:spPr>
          <a:xfrm>
            <a:off x="4828032" y="3611880"/>
            <a:ext cx="1737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200" b="1" dirty="0">
                <a:solidFill>
                  <a:schemeClr val="accent1"/>
                </a:solidFill>
              </a:rPr>
              <a:t>14</a:t>
            </a:r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 张</a:t>
            </a:r>
            <a:endParaRPr lang="en-US" sz="3200" dirty="0"/>
          </a:p>
        </p:txBody>
      </p:sp>
      <p:sp>
        <p:nvSpPr>
          <p:cNvPr id="31" name="Text 23"/>
          <p:cNvSpPr txBox="1"/>
          <p:nvPr/>
        </p:nvSpPr>
        <p:spPr>
          <a:xfrm>
            <a:off x="4828032" y="4197096"/>
            <a:ext cx="1737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UML / 架构 / E-R 设计图</a:t>
            </a:r>
            <a:endParaRPr lang="en-US" sz="1100" dirty="0"/>
          </a:p>
        </p:txBody>
      </p:sp>
      <p:sp>
        <p:nvSpPr>
          <p:cNvPr id="32" name="card"/>
          <p:cNvSpPr/>
          <p:nvPr/>
        </p:nvSpPr>
        <p:spPr>
          <a:xfrm>
            <a:off x="6720840" y="3566160"/>
            <a:ext cx="1920240" cy="1051560"/>
          </a:xfrm>
          <a:prstGeom prst="roundRect">
            <a:avLst>
              <a:gd name="adj" fmla="val 10435"/>
            </a:avLst>
          </a:prstGeom>
          <a:solidFill>
            <a:schemeClr val="bg1"/>
          </a:solidFill>
          <a:ln w="9525">
            <a:solidFill>
              <a:srgbClr val="E5E7EB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33" name="icon-badge-FaWindowMaximize"/>
          <p:cNvSpPr/>
          <p:nvPr/>
        </p:nvSpPr>
        <p:spPr>
          <a:xfrm>
            <a:off x="8138160" y="3703320"/>
            <a:ext cx="347472" cy="347472"/>
          </a:xfrm>
          <a:prstGeom prst="ellipse">
            <a:avLst/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pic>
        <p:nvPicPr>
          <p:cNvPr id="34" name="Image 5" descr="FaWindowMaximize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225028" y="3790188"/>
            <a:ext cx="173736" cy="173736"/>
          </a:xfrm>
          <a:prstGeom prst="rect">
            <a:avLst/>
          </a:prstGeom>
        </p:spPr>
      </p:pic>
      <p:sp>
        <p:nvSpPr>
          <p:cNvPr id="35" name="Text 26"/>
          <p:cNvSpPr txBox="1"/>
          <p:nvPr/>
        </p:nvSpPr>
        <p:spPr>
          <a:xfrm>
            <a:off x="6885432" y="3611880"/>
            <a:ext cx="1737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200" b="1" dirty="0">
                <a:solidFill>
                  <a:schemeClr val="accent1"/>
                </a:solidFill>
              </a:rPr>
              <a:t>20</a:t>
            </a:r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 个</a:t>
            </a:r>
            <a:endParaRPr lang="en-US" sz="3200" dirty="0"/>
          </a:p>
        </p:txBody>
      </p:sp>
      <p:sp>
        <p:nvSpPr>
          <p:cNvPr id="36" name="Text 27"/>
          <p:cNvSpPr txBox="1"/>
          <p:nvPr/>
        </p:nvSpPr>
        <p:spPr>
          <a:xfrm>
            <a:off x="6885432" y="4197096"/>
            <a:ext cx="1737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前端页面与子页面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138160" y="4818888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rgbClr val="6B728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457200" y="201168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chemeClr val="accent1"/>
                </a:solidFill>
              </a:rPr>
              <a:t>04  系统实现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457200" y="457200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界面展示 ①：首页浏览与搜索</a:t>
            </a:r>
            <a:endParaRPr lang="en-US" sz="2600" dirty="0"/>
          </a:p>
        </p:txBody>
      </p:sp>
      <p:sp>
        <p:nvSpPr>
          <p:cNvPr id="5" name="frame"/>
          <p:cNvSpPr/>
          <p:nvPr/>
        </p:nvSpPr>
        <p:spPr>
          <a:xfrm>
            <a:off x="697687" y="1188720"/>
            <a:ext cx="4959706" cy="3154680"/>
          </a:xfrm>
          <a:prstGeom prst="roundRect">
            <a:avLst>
              <a:gd name="adj" fmla="val 2319"/>
            </a:avLst>
          </a:prstGeom>
          <a:solidFill>
            <a:schemeClr val="bg1"/>
          </a:solidFill>
          <a:ln w="9525">
            <a:solidFill>
              <a:srgbClr val="E5E7EB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pic>
        <p:nvPicPr>
          <p:cNvPr id="6" name="Image 0" descr="01-hom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0839" y="1261872"/>
            <a:ext cx="4813402" cy="3008376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457200" y="4398264"/>
            <a:ext cx="5440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</a:rPr>
              <a:t>首页：分类导航、排序、价格筛选</a:t>
            </a:r>
            <a:endParaRPr lang="en-US" sz="1100" dirty="0"/>
          </a:p>
        </p:txBody>
      </p:sp>
      <p:sp>
        <p:nvSpPr>
          <p:cNvPr id="8" name="frame"/>
          <p:cNvSpPr/>
          <p:nvPr/>
        </p:nvSpPr>
        <p:spPr>
          <a:xfrm>
            <a:off x="6172200" y="1188720"/>
            <a:ext cx="2514600" cy="1626489"/>
          </a:xfrm>
          <a:prstGeom prst="roundRect">
            <a:avLst>
              <a:gd name="adj" fmla="val 4498"/>
            </a:avLst>
          </a:prstGeom>
          <a:solidFill>
            <a:schemeClr val="bg1"/>
          </a:solidFill>
          <a:ln w="9525">
            <a:solidFill>
              <a:srgbClr val="E5E7EB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pic>
        <p:nvPicPr>
          <p:cNvPr id="9" name="Image 1" descr="03-search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45352" y="1261872"/>
            <a:ext cx="2368296" cy="1480185"/>
          </a:xfrm>
          <a:prstGeom prst="rect">
            <a:avLst/>
          </a:prstGeom>
        </p:spPr>
      </p:pic>
      <p:sp>
        <p:nvSpPr>
          <p:cNvPr id="10" name="Text 5"/>
          <p:cNvSpPr txBox="1"/>
          <p:nvPr/>
        </p:nvSpPr>
        <p:spPr>
          <a:xfrm>
            <a:off x="6172200" y="2851785"/>
            <a:ext cx="2514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</a:rPr>
              <a:t>关键词搜索结果</a:t>
            </a:r>
            <a:endParaRPr lang="en-US" sz="1100" dirty="0"/>
          </a:p>
        </p:txBody>
      </p:sp>
      <p:sp>
        <p:nvSpPr>
          <p:cNvPr id="11" name="Text 6"/>
          <p:cNvSpPr txBox="1"/>
          <p:nvPr/>
        </p:nvSpPr>
        <p:spPr>
          <a:xfrm>
            <a:off x="6172200" y="3244977"/>
            <a:ext cx="2514600" cy="146304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游客无需登录即可浏览</a:t>
            </a:r>
            <a:endParaRPr lang="en-US" sz="12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标题 / 描述模糊搜索</a:t>
            </a:r>
            <a:endParaRPr lang="en-US" sz="12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最新、最热、价格排序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138160" y="4818888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rgbClr val="6B728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457200" y="201168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chemeClr val="accent1"/>
                </a:solidFill>
              </a:rPr>
              <a:t>04  系统实现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457200" y="457200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界面展示 ②：商品详情与下单</a:t>
            </a:r>
            <a:endParaRPr lang="en-US" sz="2600" dirty="0"/>
          </a:p>
        </p:txBody>
      </p:sp>
      <p:sp>
        <p:nvSpPr>
          <p:cNvPr id="5" name="frame"/>
          <p:cNvSpPr/>
          <p:nvPr/>
        </p:nvSpPr>
        <p:spPr>
          <a:xfrm>
            <a:off x="3486607" y="1188720"/>
            <a:ext cx="4959706" cy="3154680"/>
          </a:xfrm>
          <a:prstGeom prst="roundRect">
            <a:avLst>
              <a:gd name="adj" fmla="val 2319"/>
            </a:avLst>
          </a:prstGeom>
          <a:solidFill>
            <a:schemeClr val="bg1"/>
          </a:solidFill>
          <a:ln w="9525">
            <a:solidFill>
              <a:srgbClr val="E5E7EB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pic>
        <p:nvPicPr>
          <p:cNvPr id="6" name="Image 0" descr="04-detai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559759" y="1261872"/>
            <a:ext cx="4813402" cy="3008376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3246120" y="4398264"/>
            <a:ext cx="5440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</a:rPr>
              <a:t>商品详情：图片、价格、卖家、留言</a:t>
            </a:r>
            <a:endParaRPr lang="en-US" sz="1100" dirty="0"/>
          </a:p>
        </p:txBody>
      </p:sp>
      <p:sp>
        <p:nvSpPr>
          <p:cNvPr id="8" name="frame"/>
          <p:cNvSpPr/>
          <p:nvPr/>
        </p:nvSpPr>
        <p:spPr>
          <a:xfrm>
            <a:off x="457200" y="1188720"/>
            <a:ext cx="2514600" cy="1626489"/>
          </a:xfrm>
          <a:prstGeom prst="roundRect">
            <a:avLst>
              <a:gd name="adj" fmla="val 4498"/>
            </a:avLst>
          </a:prstGeom>
          <a:solidFill>
            <a:schemeClr val="bg1"/>
          </a:solidFill>
          <a:ln w="9525">
            <a:solidFill>
              <a:srgbClr val="E5E7EB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pic>
        <p:nvPicPr>
          <p:cNvPr id="9" name="Image 1" descr="13-buy-dialog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0352" y="1261872"/>
            <a:ext cx="2368296" cy="1480185"/>
          </a:xfrm>
          <a:prstGeom prst="rect">
            <a:avLst/>
          </a:prstGeom>
        </p:spPr>
      </p:pic>
      <p:sp>
        <p:nvSpPr>
          <p:cNvPr id="10" name="Text 5"/>
          <p:cNvSpPr txBox="1"/>
          <p:nvPr/>
        </p:nvSpPr>
        <p:spPr>
          <a:xfrm>
            <a:off x="457200" y="2851785"/>
            <a:ext cx="2514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</a:rPr>
              <a:t>下单确认：给卖家留言</a:t>
            </a:r>
            <a:endParaRPr lang="en-US" sz="1100" dirty="0"/>
          </a:p>
        </p:txBody>
      </p:sp>
      <p:sp>
        <p:nvSpPr>
          <p:cNvPr id="11" name="Text 6"/>
          <p:cNvSpPr txBox="1"/>
          <p:nvPr/>
        </p:nvSpPr>
        <p:spPr>
          <a:xfrm>
            <a:off x="457200" y="3244977"/>
            <a:ext cx="2514600" cy="146304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收藏、留言与回复</a:t>
            </a:r>
            <a:endParaRPr lang="en-US" sz="12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交易中商品不可再下单</a:t>
            </a:r>
            <a:endParaRPr lang="en-US" sz="12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平台不涉及线上支付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138160" y="4818888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rgbClr val="6B728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457200" y="201168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chemeClr val="accent1"/>
                </a:solidFill>
              </a:rPr>
              <a:t>04  系统实现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457200" y="457200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界面展示 ③：发布闲置与我的发布</a:t>
            </a:r>
            <a:endParaRPr lang="en-US" sz="2600" dirty="0"/>
          </a:p>
        </p:txBody>
      </p:sp>
      <p:sp>
        <p:nvSpPr>
          <p:cNvPr id="5" name="frame"/>
          <p:cNvSpPr/>
          <p:nvPr/>
        </p:nvSpPr>
        <p:spPr>
          <a:xfrm>
            <a:off x="697687" y="1188720"/>
            <a:ext cx="4959706" cy="3154680"/>
          </a:xfrm>
          <a:prstGeom prst="roundRect">
            <a:avLst>
              <a:gd name="adj" fmla="val 2319"/>
            </a:avLst>
          </a:prstGeom>
          <a:solidFill>
            <a:schemeClr val="bg1"/>
          </a:solidFill>
          <a:ln w="9525">
            <a:solidFill>
              <a:srgbClr val="E5E7EB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pic>
        <p:nvPicPr>
          <p:cNvPr id="6" name="Image 0" descr="07-publish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0839" y="1261872"/>
            <a:ext cx="4813402" cy="3008376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457200" y="4398264"/>
            <a:ext cx="5440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</a:rPr>
              <a:t>发布商品：图片上传与表单校验</a:t>
            </a:r>
            <a:endParaRPr lang="en-US" sz="1100" dirty="0"/>
          </a:p>
        </p:txBody>
      </p:sp>
      <p:sp>
        <p:nvSpPr>
          <p:cNvPr id="8" name="frame"/>
          <p:cNvSpPr/>
          <p:nvPr/>
        </p:nvSpPr>
        <p:spPr>
          <a:xfrm>
            <a:off x="6172200" y="1188720"/>
            <a:ext cx="2514600" cy="1626489"/>
          </a:xfrm>
          <a:prstGeom prst="roundRect">
            <a:avLst>
              <a:gd name="adj" fmla="val 4498"/>
            </a:avLst>
          </a:prstGeom>
          <a:solidFill>
            <a:schemeClr val="bg1"/>
          </a:solidFill>
          <a:ln w="9525">
            <a:solidFill>
              <a:srgbClr val="E5E7EB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pic>
        <p:nvPicPr>
          <p:cNvPr id="9" name="Image 1" descr="08-my-good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45352" y="1261872"/>
            <a:ext cx="2368296" cy="1480185"/>
          </a:xfrm>
          <a:prstGeom prst="rect">
            <a:avLst/>
          </a:prstGeom>
        </p:spPr>
      </p:pic>
      <p:sp>
        <p:nvSpPr>
          <p:cNvPr id="10" name="Text 5"/>
          <p:cNvSpPr txBox="1"/>
          <p:nvPr/>
        </p:nvSpPr>
        <p:spPr>
          <a:xfrm>
            <a:off x="6172200" y="2851785"/>
            <a:ext cx="2514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</a:rPr>
              <a:t>我的发布：按状态管理</a:t>
            </a:r>
            <a:endParaRPr lang="en-US" sz="1100" dirty="0"/>
          </a:p>
        </p:txBody>
      </p:sp>
      <p:sp>
        <p:nvSpPr>
          <p:cNvPr id="11" name="Text 6"/>
          <p:cNvSpPr txBox="1"/>
          <p:nvPr/>
        </p:nvSpPr>
        <p:spPr>
          <a:xfrm>
            <a:off x="6172200" y="3244977"/>
            <a:ext cx="2514600" cy="146304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最多 6 张图片，校验文件头</a:t>
            </a:r>
            <a:endParaRPr lang="en-US" sz="12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前后端双重表单校验</a:t>
            </a:r>
            <a:endParaRPr lang="en-US" sz="12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编辑后需重新审核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138160" y="4818888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rgbClr val="6B728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457200" y="201168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chemeClr val="accent1"/>
                </a:solidFill>
              </a:rPr>
              <a:t>04  系统实现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457200" y="457200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界面展示 ④：订单流转</a:t>
            </a:r>
            <a:endParaRPr lang="en-US" sz="2600" dirty="0"/>
          </a:p>
        </p:txBody>
      </p:sp>
      <p:sp>
        <p:nvSpPr>
          <p:cNvPr id="5" name="frame"/>
          <p:cNvSpPr/>
          <p:nvPr/>
        </p:nvSpPr>
        <p:spPr>
          <a:xfrm>
            <a:off x="3486607" y="1188720"/>
            <a:ext cx="4959706" cy="3154680"/>
          </a:xfrm>
          <a:prstGeom prst="roundRect">
            <a:avLst>
              <a:gd name="adj" fmla="val 2319"/>
            </a:avLst>
          </a:prstGeom>
          <a:solidFill>
            <a:schemeClr val="bg1"/>
          </a:solidFill>
          <a:ln w="9525">
            <a:solidFill>
              <a:srgbClr val="E5E7EB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pic>
        <p:nvPicPr>
          <p:cNvPr id="6" name="Image 0" descr="14-sold-order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559759" y="1261872"/>
            <a:ext cx="4813402" cy="3008376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3246120" y="4398264"/>
            <a:ext cx="5440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</a:rPr>
              <a:t>我卖出的：确认订单后显示买家联系方式</a:t>
            </a:r>
            <a:endParaRPr lang="en-US" sz="1100" dirty="0"/>
          </a:p>
        </p:txBody>
      </p:sp>
      <p:sp>
        <p:nvSpPr>
          <p:cNvPr id="8" name="frame"/>
          <p:cNvSpPr/>
          <p:nvPr/>
        </p:nvSpPr>
        <p:spPr>
          <a:xfrm>
            <a:off x="457200" y="1188720"/>
            <a:ext cx="2514600" cy="1626489"/>
          </a:xfrm>
          <a:prstGeom prst="roundRect">
            <a:avLst>
              <a:gd name="adj" fmla="val 4498"/>
            </a:avLst>
          </a:prstGeom>
          <a:solidFill>
            <a:schemeClr val="bg1"/>
          </a:solidFill>
          <a:ln w="9525">
            <a:solidFill>
              <a:srgbClr val="E5E7EB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pic>
        <p:nvPicPr>
          <p:cNvPr id="9" name="Image 1" descr="15-bought-order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0352" y="1261872"/>
            <a:ext cx="2368296" cy="1480185"/>
          </a:xfrm>
          <a:prstGeom prst="rect">
            <a:avLst/>
          </a:prstGeom>
        </p:spPr>
      </p:pic>
      <p:sp>
        <p:nvSpPr>
          <p:cNvPr id="10" name="Text 5"/>
          <p:cNvSpPr txBox="1"/>
          <p:nvPr/>
        </p:nvSpPr>
        <p:spPr>
          <a:xfrm>
            <a:off x="457200" y="2851785"/>
            <a:ext cx="2514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</a:rPr>
              <a:t>我买到的：确认收货</a:t>
            </a:r>
            <a:endParaRPr lang="en-US" sz="1100" dirty="0"/>
          </a:p>
        </p:txBody>
      </p:sp>
      <p:sp>
        <p:nvSpPr>
          <p:cNvPr id="11" name="Text 6"/>
          <p:cNvSpPr txBox="1"/>
          <p:nvPr/>
        </p:nvSpPr>
        <p:spPr>
          <a:xfrm>
            <a:off x="457200" y="3244977"/>
            <a:ext cx="2514600" cy="146304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订单保存商品快照</a:t>
            </a:r>
            <a:endParaRPr lang="en-US" sz="12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双方可见联系电话</a:t>
            </a:r>
            <a:endParaRPr lang="en-US" sz="12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取消后商品自动恢复在售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138160" y="4818888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rgbClr val="6B728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457200" y="201168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chemeClr val="accent1"/>
                </a:solidFill>
              </a:rPr>
              <a:t>04  系统实现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457200" y="457200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界面展示 ⑤：管理后台</a:t>
            </a:r>
            <a:endParaRPr lang="en-US" sz="2600" dirty="0"/>
          </a:p>
        </p:txBody>
      </p:sp>
      <p:sp>
        <p:nvSpPr>
          <p:cNvPr id="5" name="frame"/>
          <p:cNvSpPr/>
          <p:nvPr/>
        </p:nvSpPr>
        <p:spPr>
          <a:xfrm>
            <a:off x="697687" y="1188720"/>
            <a:ext cx="4959706" cy="3154680"/>
          </a:xfrm>
          <a:prstGeom prst="roundRect">
            <a:avLst>
              <a:gd name="adj" fmla="val 2319"/>
            </a:avLst>
          </a:prstGeom>
          <a:solidFill>
            <a:schemeClr val="bg1"/>
          </a:solidFill>
          <a:ln w="9525">
            <a:solidFill>
              <a:srgbClr val="E5E7EB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pic>
        <p:nvPicPr>
          <p:cNvPr id="6" name="Image 0" descr="09-admin-dashboar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0839" y="1261872"/>
            <a:ext cx="4813402" cy="3008376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457200" y="4398264"/>
            <a:ext cx="5440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</a:rPr>
              <a:t>数据概览：统计卡片与 ECharts 图表</a:t>
            </a:r>
            <a:endParaRPr lang="en-US" sz="1100" dirty="0"/>
          </a:p>
        </p:txBody>
      </p:sp>
      <p:sp>
        <p:nvSpPr>
          <p:cNvPr id="8" name="frame"/>
          <p:cNvSpPr/>
          <p:nvPr/>
        </p:nvSpPr>
        <p:spPr>
          <a:xfrm>
            <a:off x="6172200" y="1188720"/>
            <a:ext cx="2514600" cy="1626489"/>
          </a:xfrm>
          <a:prstGeom prst="roundRect">
            <a:avLst>
              <a:gd name="adj" fmla="val 4498"/>
            </a:avLst>
          </a:prstGeom>
          <a:solidFill>
            <a:schemeClr val="bg1"/>
          </a:solidFill>
          <a:ln w="9525">
            <a:solidFill>
              <a:srgbClr val="E5E7EB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pic>
        <p:nvPicPr>
          <p:cNvPr id="9" name="Image 1" descr="10-admin-audi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45352" y="1261872"/>
            <a:ext cx="2368296" cy="1480185"/>
          </a:xfrm>
          <a:prstGeom prst="rect">
            <a:avLst/>
          </a:prstGeom>
        </p:spPr>
      </p:pic>
      <p:sp>
        <p:nvSpPr>
          <p:cNvPr id="10" name="Text 5"/>
          <p:cNvSpPr txBox="1"/>
          <p:nvPr/>
        </p:nvSpPr>
        <p:spPr>
          <a:xfrm>
            <a:off x="6172200" y="2851785"/>
            <a:ext cx="2514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</a:rPr>
              <a:t>商品审核：通过 / 驳回</a:t>
            </a:r>
            <a:endParaRPr lang="en-US" sz="1100" dirty="0"/>
          </a:p>
        </p:txBody>
      </p:sp>
      <p:sp>
        <p:nvSpPr>
          <p:cNvPr id="11" name="Text 6"/>
          <p:cNvSpPr txBox="1"/>
          <p:nvPr/>
        </p:nvSpPr>
        <p:spPr>
          <a:xfrm>
            <a:off x="6172200" y="3244977"/>
            <a:ext cx="2514600" cy="146304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近 7 天下单趋势</a:t>
            </a:r>
            <a:endParaRPr lang="en-US" sz="12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违规商品强制下架</a:t>
            </a:r>
            <a:endParaRPr lang="en-US" sz="12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封禁用户、管理分类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138160" y="4818888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rgbClr val="6B728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457200" y="201168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chemeClr val="accent1"/>
                </a:solidFill>
              </a:rPr>
              <a:t>05  软件测试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457200" y="457200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测试策略：三层测试金字塔</a:t>
            </a:r>
            <a:endParaRPr lang="en-US" sz="2600" dirty="0"/>
          </a:p>
        </p:txBody>
      </p:sp>
      <p:sp>
        <p:nvSpPr>
          <p:cNvPr id="5" name="pyramid-0"/>
          <p:cNvSpPr/>
          <p:nvPr/>
        </p:nvSpPr>
        <p:spPr>
          <a:xfrm>
            <a:off x="1554480" y="1234440"/>
            <a:ext cx="2286000" cy="960120"/>
          </a:xfrm>
          <a:prstGeom prst="roundRect">
            <a:avLst>
              <a:gd name="adj" fmla="val 9524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1554480" y="1234440"/>
            <a:ext cx="2286000" cy="9601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端到端系统测试</a:t>
            </a:r>
            <a:endParaRPr lang="en-US" sz="14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FFF7ED"/>
                </a:solidFill>
              </a:rPr>
              <a:t>27 个 · Playwright</a:t>
            </a:r>
            <a:endParaRPr lang="en-US" sz="1400" dirty="0"/>
          </a:p>
        </p:txBody>
      </p:sp>
      <p:sp>
        <p:nvSpPr>
          <p:cNvPr id="7" name="pyramid-1"/>
          <p:cNvSpPr/>
          <p:nvPr/>
        </p:nvSpPr>
        <p:spPr>
          <a:xfrm>
            <a:off x="1051560" y="2350008"/>
            <a:ext cx="3291840" cy="960120"/>
          </a:xfrm>
          <a:prstGeom prst="roundRect">
            <a:avLst>
              <a:gd name="adj" fmla="val 9524"/>
            </a:avLst>
          </a:prstGeom>
          <a:solidFill>
            <a:srgbClr val="FB923C"/>
          </a:solidFill>
          <a:ln w="12700">
            <a:solidFill>
              <a:srgbClr val="FB923C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1051560" y="2350008"/>
            <a:ext cx="3291840" cy="9601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接口集成 + 并发测试</a:t>
            </a:r>
            <a:endParaRPr lang="en-US" sz="14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FFF7ED"/>
                </a:solidFill>
              </a:rPr>
              <a:t>27 + 5 个 · SpringBootTest · MockMvc · H2</a:t>
            </a:r>
            <a:endParaRPr lang="en-US" sz="1400" dirty="0"/>
          </a:p>
        </p:txBody>
      </p:sp>
      <p:sp>
        <p:nvSpPr>
          <p:cNvPr id="9" name="pyramid-2"/>
          <p:cNvSpPr/>
          <p:nvPr/>
        </p:nvSpPr>
        <p:spPr>
          <a:xfrm>
            <a:off x="548640" y="3465576"/>
            <a:ext cx="4297680" cy="960120"/>
          </a:xfrm>
          <a:prstGeom prst="roundRect">
            <a:avLst>
              <a:gd name="adj" fmla="val 9524"/>
            </a:avLst>
          </a:prstGeom>
          <a:solidFill>
            <a:srgbClr val="FDBA74"/>
          </a:solidFill>
          <a:ln w="12700">
            <a:solidFill>
              <a:srgbClr val="FDBA74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548640" y="3465576"/>
            <a:ext cx="4297680" cy="9601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单元测试</a:t>
            </a:r>
            <a:endParaRPr lang="en-US" sz="1400" dirty="0"/>
          </a:p>
          <a:p>
            <a:pPr algn="ctr"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76 个 · JUnit 5 · Mockito</a:t>
            </a:r>
            <a:endParaRPr lang="en-US" sz="1400" dirty="0"/>
          </a:p>
        </p:txBody>
      </p:sp>
      <p:sp>
        <p:nvSpPr>
          <p:cNvPr id="11" name="card"/>
          <p:cNvSpPr/>
          <p:nvPr/>
        </p:nvSpPr>
        <p:spPr>
          <a:xfrm>
            <a:off x="5120640" y="1234440"/>
            <a:ext cx="3566160" cy="3383280"/>
          </a:xfrm>
          <a:prstGeom prst="roundRect">
            <a:avLst>
              <a:gd name="adj" fmla="val 3243"/>
            </a:avLst>
          </a:prstGeom>
          <a:solidFill>
            <a:schemeClr val="bg1"/>
          </a:solidFill>
          <a:ln w="9525">
            <a:solidFill>
              <a:srgbClr val="E5E7EB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12" name="Text 9"/>
          <p:cNvSpPr txBox="1"/>
          <p:nvPr/>
        </p:nvSpPr>
        <p:spPr>
          <a:xfrm>
            <a:off x="5349240" y="1325880"/>
            <a:ext cx="1600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200" b="1" dirty="0">
                <a:solidFill>
                  <a:schemeClr val="accent1"/>
                </a:solidFill>
              </a:rPr>
              <a:t>108</a:t>
            </a:r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 次</a:t>
            </a:r>
            <a:endParaRPr lang="en-US" sz="3200" dirty="0"/>
          </a:p>
        </p:txBody>
      </p:sp>
      <p:sp>
        <p:nvSpPr>
          <p:cNvPr id="13" name="Text 10"/>
          <p:cNvSpPr txBox="1"/>
          <p:nvPr/>
        </p:nvSpPr>
        <p:spPr>
          <a:xfrm>
            <a:off x="5349240" y="1911096"/>
            <a:ext cx="1600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自动化测试执行</a:t>
            </a:r>
            <a:endParaRPr lang="en-US" sz="1100" dirty="0"/>
          </a:p>
        </p:txBody>
      </p:sp>
      <p:sp>
        <p:nvSpPr>
          <p:cNvPr id="14" name="Text 11"/>
          <p:cNvSpPr txBox="1"/>
          <p:nvPr/>
        </p:nvSpPr>
        <p:spPr>
          <a:xfrm>
            <a:off x="7040880" y="1325880"/>
            <a:ext cx="1600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200" b="1" dirty="0">
                <a:solidFill>
                  <a:schemeClr val="accent3"/>
                </a:solidFill>
              </a:rPr>
              <a:t>100%</a:t>
            </a:r>
            <a:pPr indent="0" marL="0">
              <a:buNone/>
            </a:pPr>
            <a:endParaRPr lang="en-US" sz="3200" dirty="0"/>
          </a:p>
        </p:txBody>
      </p:sp>
      <p:sp>
        <p:nvSpPr>
          <p:cNvPr id="15" name="Text 12"/>
          <p:cNvSpPr txBox="1"/>
          <p:nvPr/>
        </p:nvSpPr>
        <p:spPr>
          <a:xfrm>
            <a:off x="7040880" y="1911096"/>
            <a:ext cx="1600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通过率（0 失败）</a:t>
            </a:r>
            <a:endParaRPr lang="en-US" sz="1100" dirty="0"/>
          </a:p>
        </p:txBody>
      </p:sp>
      <p:sp>
        <p:nvSpPr>
          <p:cNvPr id="16" name="Text 13"/>
          <p:cNvSpPr txBox="1"/>
          <p:nvPr/>
        </p:nvSpPr>
        <p:spPr>
          <a:xfrm>
            <a:off x="5349240" y="2404872"/>
            <a:ext cx="1600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200" b="1" dirty="0">
                <a:solidFill>
                  <a:schemeClr val="accent1"/>
                </a:solidFill>
              </a:rPr>
              <a:t>84.2%</a:t>
            </a:r>
            <a:pPr indent="0" marL="0">
              <a:buNone/>
            </a:pPr>
            <a:endParaRPr lang="en-US" sz="3200" dirty="0"/>
          </a:p>
        </p:txBody>
      </p:sp>
      <p:sp>
        <p:nvSpPr>
          <p:cNvPr id="17" name="Text 14"/>
          <p:cNvSpPr txBox="1"/>
          <p:nvPr/>
        </p:nvSpPr>
        <p:spPr>
          <a:xfrm>
            <a:off x="5349240" y="2990088"/>
            <a:ext cx="1600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行覆盖率（业务层 97.4%）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7040880" y="2404872"/>
            <a:ext cx="1600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200" b="1" dirty="0">
                <a:solidFill>
                  <a:schemeClr val="accent1"/>
                </a:solidFill>
              </a:rPr>
              <a:t>80.1%</a:t>
            </a:r>
            <a:pPr indent="0" marL="0">
              <a:buNone/>
            </a:pPr>
            <a:endParaRPr lang="en-US" sz="3200" dirty="0"/>
          </a:p>
        </p:txBody>
      </p:sp>
      <p:sp>
        <p:nvSpPr>
          <p:cNvPr id="19" name="Text 16"/>
          <p:cNvSpPr txBox="1"/>
          <p:nvPr/>
        </p:nvSpPr>
        <p:spPr>
          <a:xfrm>
            <a:off x="7040880" y="2990088"/>
            <a:ext cx="1600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分支覆盖率</a:t>
            </a:r>
            <a:endParaRPr lang="en-US" sz="1100" dirty="0"/>
          </a:p>
        </p:txBody>
      </p:sp>
      <p:sp>
        <p:nvSpPr>
          <p:cNvPr id="20" name="Text 17"/>
          <p:cNvSpPr txBox="1"/>
          <p:nvPr/>
        </p:nvSpPr>
        <p:spPr>
          <a:xfrm>
            <a:off x="5349240" y="3483864"/>
            <a:ext cx="1600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200" b="1" dirty="0">
                <a:solidFill>
                  <a:schemeClr val="accent3"/>
                </a:solidFill>
              </a:rPr>
              <a:t>27/27</a:t>
            </a:r>
            <a:pPr indent="0" marL="0">
              <a:buNone/>
            </a:pPr>
            <a:endParaRPr lang="en-US" sz="3200" dirty="0"/>
          </a:p>
        </p:txBody>
      </p:sp>
      <p:sp>
        <p:nvSpPr>
          <p:cNvPr id="21" name="Text 18"/>
          <p:cNvSpPr txBox="1"/>
          <p:nvPr/>
        </p:nvSpPr>
        <p:spPr>
          <a:xfrm>
            <a:off x="5349240" y="4069080"/>
            <a:ext cx="1600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系统测试用例通过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138160" y="4818888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rgbClr val="6B728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457200" y="201168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chemeClr val="accent1"/>
                </a:solidFill>
              </a:rPr>
              <a:t>05  软件测试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457200" y="457200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覆盖率分析（JaCoCo）</a:t>
            </a:r>
            <a:endParaRPr lang="en-US" sz="2600" dirty="0"/>
          </a:p>
        </p:txBody>
      </p:sp>
      <p:sp>
        <p:nvSpPr>
          <p:cNvPr id="5" name="card"/>
          <p:cNvSpPr/>
          <p:nvPr/>
        </p:nvSpPr>
        <p:spPr>
          <a:xfrm>
            <a:off x="457200" y="1188720"/>
            <a:ext cx="4937760" cy="3474720"/>
          </a:xfrm>
          <a:prstGeom prst="roundRect">
            <a:avLst>
              <a:gd name="adj" fmla="val 3158"/>
            </a:avLst>
          </a:prstGeom>
          <a:solidFill>
            <a:schemeClr val="bg1"/>
          </a:solidFill>
          <a:ln w="9525">
            <a:solidFill>
              <a:srgbClr val="E5E7EB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graphicFrame>
        <p:nvGraphicFramePr>
          <p:cNvPr id="6" name="Chart 0" descr=""/>
          <p:cNvGraphicFramePr/>
          <p:nvPr/>
        </p:nvGraphicFramePr>
        <p:xfrm>
          <a:off x="548640" y="1234440"/>
          <a:ext cx="4754880" cy="33832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7" name="card"/>
          <p:cNvSpPr/>
          <p:nvPr/>
        </p:nvSpPr>
        <p:spPr>
          <a:xfrm>
            <a:off x="5623560" y="1188720"/>
            <a:ext cx="3063240" cy="777240"/>
          </a:xfrm>
          <a:prstGeom prst="roundRect">
            <a:avLst>
              <a:gd name="adj" fmla="val 14118"/>
            </a:avLst>
          </a:prstGeom>
          <a:solidFill>
            <a:schemeClr val="bg1"/>
          </a:solidFill>
          <a:ln w="9525">
            <a:solidFill>
              <a:srgbClr val="E5E7EB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8" name="Text 4"/>
          <p:cNvSpPr txBox="1"/>
          <p:nvPr/>
        </p:nvSpPr>
        <p:spPr>
          <a:xfrm>
            <a:off x="5760720" y="1261872"/>
            <a:ext cx="1234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chemeClr val="accent1"/>
                </a:solidFill>
              </a:rPr>
              <a:t>84.2%</a:t>
            </a:r>
            <a:endParaRPr lang="en-US" sz="2200" dirty="0"/>
          </a:p>
        </p:txBody>
      </p:sp>
      <p:sp>
        <p:nvSpPr>
          <p:cNvPr id="9" name="Text 5"/>
          <p:cNvSpPr txBox="1"/>
          <p:nvPr/>
        </p:nvSpPr>
        <p:spPr>
          <a:xfrm>
            <a:off x="7040880" y="1261872"/>
            <a:ext cx="1600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整体行覆盖率</a:t>
            </a:r>
            <a:endParaRPr lang="en-US" sz="1200" dirty="0"/>
          </a:p>
          <a:p>
            <a:pPr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814/967 行</a:t>
            </a:r>
            <a:endParaRPr lang="en-US" sz="1200" dirty="0"/>
          </a:p>
        </p:txBody>
      </p:sp>
      <p:sp>
        <p:nvSpPr>
          <p:cNvPr id="10" name="card"/>
          <p:cNvSpPr/>
          <p:nvPr/>
        </p:nvSpPr>
        <p:spPr>
          <a:xfrm>
            <a:off x="5623560" y="2075688"/>
            <a:ext cx="3063240" cy="777240"/>
          </a:xfrm>
          <a:prstGeom prst="roundRect">
            <a:avLst>
              <a:gd name="adj" fmla="val 14118"/>
            </a:avLst>
          </a:prstGeom>
          <a:solidFill>
            <a:schemeClr val="bg1"/>
          </a:solidFill>
          <a:ln w="9525">
            <a:solidFill>
              <a:srgbClr val="E5E7EB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11" name="Text 7"/>
          <p:cNvSpPr txBox="1"/>
          <p:nvPr/>
        </p:nvSpPr>
        <p:spPr>
          <a:xfrm>
            <a:off x="5760720" y="2148840"/>
            <a:ext cx="1234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chemeClr val="accent1"/>
                </a:solidFill>
              </a:rPr>
              <a:t>80.1%</a:t>
            </a:r>
            <a:endParaRPr lang="en-US" sz="2200" dirty="0"/>
          </a:p>
        </p:txBody>
      </p:sp>
      <p:sp>
        <p:nvSpPr>
          <p:cNvPr id="12" name="Text 8"/>
          <p:cNvSpPr txBox="1"/>
          <p:nvPr/>
        </p:nvSpPr>
        <p:spPr>
          <a:xfrm>
            <a:off x="7040880" y="2148840"/>
            <a:ext cx="1600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分支覆盖率</a:t>
            </a:r>
            <a:endParaRPr lang="en-US" sz="1200" dirty="0"/>
          </a:p>
          <a:p>
            <a:pPr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覆盖主要异常分支</a:t>
            </a:r>
            <a:endParaRPr lang="en-US" sz="1200" dirty="0"/>
          </a:p>
        </p:txBody>
      </p:sp>
      <p:sp>
        <p:nvSpPr>
          <p:cNvPr id="13" name="card"/>
          <p:cNvSpPr/>
          <p:nvPr/>
        </p:nvSpPr>
        <p:spPr>
          <a:xfrm>
            <a:off x="5623560" y="2962656"/>
            <a:ext cx="3063240" cy="777240"/>
          </a:xfrm>
          <a:prstGeom prst="roundRect">
            <a:avLst>
              <a:gd name="adj" fmla="val 14118"/>
            </a:avLst>
          </a:prstGeom>
          <a:solidFill>
            <a:schemeClr val="bg1"/>
          </a:solidFill>
          <a:ln w="9525">
            <a:solidFill>
              <a:srgbClr val="E5E7EB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14" name="Text 10"/>
          <p:cNvSpPr txBox="1"/>
          <p:nvPr/>
        </p:nvSpPr>
        <p:spPr>
          <a:xfrm>
            <a:off x="5760720" y="3035808"/>
            <a:ext cx="1234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chemeClr val="accent1"/>
                </a:solidFill>
              </a:rPr>
              <a:t>93.3%</a:t>
            </a:r>
            <a:endParaRPr lang="en-US" sz="2200" dirty="0"/>
          </a:p>
        </p:txBody>
      </p:sp>
      <p:sp>
        <p:nvSpPr>
          <p:cNvPr id="15" name="Text 11"/>
          <p:cNvSpPr txBox="1"/>
          <p:nvPr/>
        </p:nvSpPr>
        <p:spPr>
          <a:xfrm>
            <a:off x="7040880" y="3035808"/>
            <a:ext cx="1600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方法覆盖率</a:t>
            </a:r>
            <a:endParaRPr lang="en-US" sz="1200" dirty="0"/>
          </a:p>
        </p:txBody>
      </p:sp>
      <p:sp>
        <p:nvSpPr>
          <p:cNvPr id="16" name="card"/>
          <p:cNvSpPr/>
          <p:nvPr/>
        </p:nvSpPr>
        <p:spPr>
          <a:xfrm>
            <a:off x="5623560" y="3849624"/>
            <a:ext cx="3063240" cy="777240"/>
          </a:xfrm>
          <a:prstGeom prst="roundRect">
            <a:avLst>
              <a:gd name="adj" fmla="val 14118"/>
            </a:avLst>
          </a:prstGeom>
          <a:solidFill>
            <a:schemeClr val="bg1"/>
          </a:solidFill>
          <a:ln w="9525">
            <a:solidFill>
              <a:srgbClr val="E5E7EB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17" name="Text 13"/>
          <p:cNvSpPr txBox="1"/>
          <p:nvPr/>
        </p:nvSpPr>
        <p:spPr>
          <a:xfrm>
            <a:off x="5760720" y="3922776"/>
            <a:ext cx="1234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chemeClr val="accent1"/>
                </a:solidFill>
              </a:rPr>
              <a:t>97.2%</a:t>
            </a:r>
            <a:endParaRPr lang="en-US" sz="2200" dirty="0"/>
          </a:p>
        </p:txBody>
      </p:sp>
      <p:sp>
        <p:nvSpPr>
          <p:cNvPr id="18" name="Text 14"/>
          <p:cNvSpPr txBox="1"/>
          <p:nvPr/>
        </p:nvSpPr>
        <p:spPr>
          <a:xfrm>
            <a:off x="7040880" y="3922776"/>
            <a:ext cx="1600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不含 init 包</a:t>
            </a:r>
            <a:endParaRPr lang="en-US" sz="1200" dirty="0"/>
          </a:p>
          <a:p>
            <a:pPr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演示数据初始化未参与测试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138160" y="4818888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rgbClr val="6B728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457200" y="201168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chemeClr val="accent1"/>
                </a:solidFill>
              </a:rPr>
              <a:t>05  软件测试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457200" y="457200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缺陷跟踪：发现 7 个，全部修复</a:t>
            </a:r>
            <a:endParaRPr lang="en-US" sz="2600" dirty="0"/>
          </a:p>
        </p:txBody>
      </p:sp>
      <p:graphicFrame>
        <p:nvGraphicFramePr>
          <p:cNvPr id="2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188720"/>
          <a:ext cx="8229600" cy="914400"/>
        </p:xfrm>
        <a:graphic>
          <a:graphicData uri="http://schemas.openxmlformats.org/drawingml/2006/table">
            <a:tbl>
              <a:tblPr/>
              <a:tblGrid>
                <a:gridCol w="822960"/>
                <a:gridCol w="3017520"/>
                <a:gridCol w="914400"/>
                <a:gridCol w="2743200"/>
                <a:gridCol w="731520"/>
              </a:tblGrid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编号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缺陷描述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发现阶段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修复措施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状态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BUG-01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时间字段返回带纳秒的 ISO 格式，前端显示不友好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集成联调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JacksonConfig 统一为 yyyy-MM-dd HH:mm:ss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59669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已修复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BUG-02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pom.xml 注释中含“--”，Maven 无法解析 POM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构建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修改注释内容，构建恢复正常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59669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已修复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BUG-03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上传目录映射缺少结尾“/”，启动时告警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启动日志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WebConfig 自动补全路径结尾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59669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已修复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BUG-04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浏览商品时修改实体浏览量，可能误刷新更新时间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代码评审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原子 SQL 递增 + 列设为不可更新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59669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已修复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BUG-05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下单趋势折线平滑插值，0 值日期出现负向下探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UI 测试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关闭平滑插值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59669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已修复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BUG-06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统计卡片 5+1 折行、注册时间列换行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UI 测试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调整栅格最小宽度和列宽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59669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已修复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BUG-07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系统测试脚本读到旧数据导致 ST-03/04 误报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系统测试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改为等待接口响应后再断言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59669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已修复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138160" y="4818888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rgbClr val="6B728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457200" y="201168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chemeClr val="accent1"/>
                </a:solidFill>
              </a:rPr>
              <a:t>06  总结展望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457200" y="457200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项目进度安排</a:t>
            </a:r>
            <a:endParaRPr lang="en-US" sz="2600" dirty="0"/>
          </a:p>
        </p:txBody>
      </p:sp>
      <p:sp>
        <p:nvSpPr>
          <p:cNvPr id="5" name="frame"/>
          <p:cNvSpPr/>
          <p:nvPr/>
        </p:nvSpPr>
        <p:spPr>
          <a:xfrm>
            <a:off x="1359435" y="1188720"/>
            <a:ext cx="6425131" cy="3520440"/>
          </a:xfrm>
          <a:prstGeom prst="roundRect">
            <a:avLst>
              <a:gd name="adj" fmla="val 2078"/>
            </a:avLst>
          </a:prstGeom>
          <a:solidFill>
            <a:schemeClr val="bg1"/>
          </a:solidFill>
          <a:ln w="9525">
            <a:solidFill>
              <a:srgbClr val="E5E7EB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pic>
        <p:nvPicPr>
          <p:cNvPr id="6" name="Image 0" descr="gant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432587" y="1261872"/>
            <a:ext cx="6278827" cy="3374136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138160" y="4818888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rgbClr val="6B728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457200" y="201168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chemeClr val="accent1"/>
                </a:solidFill>
              </a:rPr>
              <a:t>06  总结展望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457200" y="457200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总结与展望</a:t>
            </a:r>
            <a:endParaRPr lang="en-US" sz="2600" dirty="0"/>
          </a:p>
        </p:txBody>
      </p:sp>
      <p:sp>
        <p:nvSpPr>
          <p:cNvPr id="5" name="Text 2"/>
          <p:cNvSpPr txBox="1"/>
          <p:nvPr/>
        </p:nvSpPr>
        <p:spPr>
          <a:xfrm>
            <a:off x="457200" y="1188720"/>
            <a:ext cx="3931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完成情况</a:t>
            </a:r>
            <a:endParaRPr lang="en-US" sz="1600" dirty="0"/>
          </a:p>
        </p:txBody>
      </p:sp>
      <p:sp>
        <p:nvSpPr>
          <p:cNvPr id="6" name="card"/>
          <p:cNvSpPr/>
          <p:nvPr/>
        </p:nvSpPr>
        <p:spPr>
          <a:xfrm>
            <a:off x="457200" y="1600200"/>
            <a:ext cx="3931920" cy="640080"/>
          </a:xfrm>
          <a:prstGeom prst="roundRect">
            <a:avLst>
              <a:gd name="adj" fmla="val 17143"/>
            </a:avLst>
          </a:prstGeom>
          <a:solidFill>
            <a:schemeClr val="bg1"/>
          </a:solidFill>
          <a:ln w="9525">
            <a:solidFill>
              <a:srgbClr val="E5E7EB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7" name="icon-badge-FaCheck"/>
          <p:cNvSpPr/>
          <p:nvPr/>
        </p:nvSpPr>
        <p:spPr>
          <a:xfrm>
            <a:off x="594360" y="1728216"/>
            <a:ext cx="384048" cy="384048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pic>
        <p:nvPicPr>
          <p:cNvPr id="8" name="Image 0" descr="FaChec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0372" y="1824228"/>
            <a:ext cx="192024" cy="192024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1097280" y="1636776"/>
            <a:ext cx="3200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功能完整</a:t>
            </a:r>
            <a:endParaRPr lang="en-US" sz="1300" dirty="0"/>
          </a:p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5 大模块全部实现，35 个 REST 接口</a:t>
            </a:r>
            <a:endParaRPr lang="en-US" sz="1300" dirty="0"/>
          </a:p>
        </p:txBody>
      </p:sp>
      <p:sp>
        <p:nvSpPr>
          <p:cNvPr id="10" name="card"/>
          <p:cNvSpPr/>
          <p:nvPr/>
        </p:nvSpPr>
        <p:spPr>
          <a:xfrm>
            <a:off x="457200" y="2350008"/>
            <a:ext cx="3931920" cy="640080"/>
          </a:xfrm>
          <a:prstGeom prst="roundRect">
            <a:avLst>
              <a:gd name="adj" fmla="val 17143"/>
            </a:avLst>
          </a:prstGeom>
          <a:solidFill>
            <a:schemeClr val="bg1"/>
          </a:solidFill>
          <a:ln w="9525">
            <a:solidFill>
              <a:srgbClr val="E5E7EB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11" name="icon-badge-FaCheck"/>
          <p:cNvSpPr/>
          <p:nvPr/>
        </p:nvSpPr>
        <p:spPr>
          <a:xfrm>
            <a:off x="594360" y="2478024"/>
            <a:ext cx="384048" cy="384048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pic>
        <p:nvPicPr>
          <p:cNvPr id="12" name="Image 1" descr="FaCheck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0372" y="2574036"/>
            <a:ext cx="192024" cy="192024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1097280" y="2386584"/>
            <a:ext cx="3200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测试充分</a:t>
            </a:r>
            <a:endParaRPr lang="en-US" sz="1300" dirty="0"/>
          </a:p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自动化 108 次 + 系统测试 27 个，全部通过</a:t>
            </a:r>
            <a:endParaRPr lang="en-US" sz="1300" dirty="0"/>
          </a:p>
        </p:txBody>
      </p:sp>
      <p:sp>
        <p:nvSpPr>
          <p:cNvPr id="14" name="card"/>
          <p:cNvSpPr/>
          <p:nvPr/>
        </p:nvSpPr>
        <p:spPr>
          <a:xfrm>
            <a:off x="457200" y="3099816"/>
            <a:ext cx="3931920" cy="640080"/>
          </a:xfrm>
          <a:prstGeom prst="roundRect">
            <a:avLst>
              <a:gd name="adj" fmla="val 17143"/>
            </a:avLst>
          </a:prstGeom>
          <a:solidFill>
            <a:schemeClr val="bg1"/>
          </a:solidFill>
          <a:ln w="9525">
            <a:solidFill>
              <a:srgbClr val="E5E7EB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15" name="icon-badge-FaCheck"/>
          <p:cNvSpPr/>
          <p:nvPr/>
        </p:nvSpPr>
        <p:spPr>
          <a:xfrm>
            <a:off x="594360" y="3227832"/>
            <a:ext cx="384048" cy="384048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pic>
        <p:nvPicPr>
          <p:cNvPr id="16" name="Image 2" descr="FaCheck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0372" y="3323844"/>
            <a:ext cx="192024" cy="192024"/>
          </a:xfrm>
          <a:prstGeom prst="rect">
            <a:avLst/>
          </a:prstGeom>
        </p:spPr>
      </p:pic>
      <p:sp>
        <p:nvSpPr>
          <p:cNvPr id="17" name="Text 11"/>
          <p:cNvSpPr txBox="1"/>
          <p:nvPr/>
        </p:nvSpPr>
        <p:spPr>
          <a:xfrm>
            <a:off x="1097280" y="3136392"/>
            <a:ext cx="3200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文档齐全</a:t>
            </a:r>
            <a:endParaRPr lang="en-US" sz="1300" dirty="0"/>
          </a:p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计划、需求、设计、实施、测试 5 份文档</a:t>
            </a:r>
            <a:endParaRPr lang="en-US" sz="1300" dirty="0"/>
          </a:p>
        </p:txBody>
      </p:sp>
      <p:sp>
        <p:nvSpPr>
          <p:cNvPr id="18" name="card"/>
          <p:cNvSpPr/>
          <p:nvPr/>
        </p:nvSpPr>
        <p:spPr>
          <a:xfrm>
            <a:off x="457200" y="3849624"/>
            <a:ext cx="3931920" cy="640080"/>
          </a:xfrm>
          <a:prstGeom prst="roundRect">
            <a:avLst>
              <a:gd name="adj" fmla="val 17143"/>
            </a:avLst>
          </a:prstGeom>
          <a:solidFill>
            <a:schemeClr val="bg1"/>
          </a:solidFill>
          <a:ln w="9525">
            <a:solidFill>
              <a:srgbClr val="E5E7EB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19" name="icon-badge-FaCheck"/>
          <p:cNvSpPr/>
          <p:nvPr/>
        </p:nvSpPr>
        <p:spPr>
          <a:xfrm>
            <a:off x="594360" y="3977640"/>
            <a:ext cx="384048" cy="384048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pic>
        <p:nvPicPr>
          <p:cNvPr id="20" name="Image 3" descr="FaCheck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0372" y="4073652"/>
            <a:ext cx="192024" cy="192024"/>
          </a:xfrm>
          <a:prstGeom prst="rect">
            <a:avLst/>
          </a:prstGeom>
        </p:spPr>
      </p:pic>
      <p:sp>
        <p:nvSpPr>
          <p:cNvPr id="21" name="Text 14"/>
          <p:cNvSpPr txBox="1"/>
          <p:nvPr/>
        </p:nvSpPr>
        <p:spPr>
          <a:xfrm>
            <a:off x="1097280" y="3886200"/>
            <a:ext cx="3200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部署简单</a:t>
            </a:r>
            <a:endParaRPr lang="en-US" sz="1300" dirty="0"/>
          </a:p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H2 零配置，可切换 MySQL，单 jar 启动</a:t>
            </a:r>
            <a:endParaRPr lang="en-US" sz="1300" dirty="0"/>
          </a:p>
        </p:txBody>
      </p:sp>
      <p:sp>
        <p:nvSpPr>
          <p:cNvPr id="22" name="Text 15"/>
          <p:cNvSpPr txBox="1"/>
          <p:nvPr/>
        </p:nvSpPr>
        <p:spPr>
          <a:xfrm>
            <a:off x="4754880" y="1188720"/>
            <a:ext cx="3931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改进方向</a:t>
            </a:r>
            <a:endParaRPr lang="en-US" sz="1600" dirty="0"/>
          </a:p>
        </p:txBody>
      </p:sp>
      <p:sp>
        <p:nvSpPr>
          <p:cNvPr id="23" name="card"/>
          <p:cNvSpPr/>
          <p:nvPr/>
        </p:nvSpPr>
        <p:spPr>
          <a:xfrm>
            <a:off x="4754880" y="1600200"/>
            <a:ext cx="1874520" cy="868680"/>
          </a:xfrm>
          <a:prstGeom prst="roundRect">
            <a:avLst>
              <a:gd name="adj" fmla="val 12632"/>
            </a:avLst>
          </a:prstGeom>
          <a:solidFill>
            <a:srgbClr val="FFF1E6"/>
          </a:solidFill>
          <a:ln w="12700">
            <a:solidFill>
              <a:srgbClr val="FED7AA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24" name="icon-badge-FaCreditCard"/>
          <p:cNvSpPr/>
          <p:nvPr/>
        </p:nvSpPr>
        <p:spPr>
          <a:xfrm>
            <a:off x="4892040" y="1819656"/>
            <a:ext cx="420624" cy="420624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25" name="Image 4" descr="FaCreditCard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997196" y="1924812"/>
            <a:ext cx="210312" cy="210312"/>
          </a:xfrm>
          <a:prstGeom prst="rect">
            <a:avLst/>
          </a:prstGeom>
        </p:spPr>
      </p:pic>
      <p:sp>
        <p:nvSpPr>
          <p:cNvPr id="26" name="Text 18"/>
          <p:cNvSpPr txBox="1"/>
          <p:nvPr/>
        </p:nvSpPr>
        <p:spPr>
          <a:xfrm>
            <a:off x="5394960" y="1673352"/>
            <a:ext cx="1188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在线支付</a:t>
            </a:r>
            <a:endParaRPr lang="en-US" sz="1300" dirty="0"/>
          </a:p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担保交易</a:t>
            </a:r>
            <a:endParaRPr lang="en-US" sz="1300" dirty="0"/>
          </a:p>
        </p:txBody>
      </p:sp>
      <p:sp>
        <p:nvSpPr>
          <p:cNvPr id="27" name="card"/>
          <p:cNvSpPr/>
          <p:nvPr/>
        </p:nvSpPr>
        <p:spPr>
          <a:xfrm>
            <a:off x="6766560" y="1600200"/>
            <a:ext cx="1874520" cy="868680"/>
          </a:xfrm>
          <a:prstGeom prst="roundRect">
            <a:avLst>
              <a:gd name="adj" fmla="val 12632"/>
            </a:avLst>
          </a:prstGeom>
          <a:solidFill>
            <a:srgbClr val="FFF1E6"/>
          </a:solidFill>
          <a:ln w="12700">
            <a:solidFill>
              <a:srgbClr val="FED7AA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28" name="icon-badge-FaComments"/>
          <p:cNvSpPr/>
          <p:nvPr/>
        </p:nvSpPr>
        <p:spPr>
          <a:xfrm>
            <a:off x="6903720" y="1819656"/>
            <a:ext cx="420624" cy="420624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29" name="Image 5" descr="FaComments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008876" y="1924812"/>
            <a:ext cx="210312" cy="210312"/>
          </a:xfrm>
          <a:prstGeom prst="rect">
            <a:avLst/>
          </a:prstGeom>
        </p:spPr>
      </p:pic>
      <p:sp>
        <p:nvSpPr>
          <p:cNvPr id="30" name="Text 21"/>
          <p:cNvSpPr txBox="1"/>
          <p:nvPr/>
        </p:nvSpPr>
        <p:spPr>
          <a:xfrm>
            <a:off x="7406640" y="1673352"/>
            <a:ext cx="1188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即时聊天</a:t>
            </a:r>
            <a:endParaRPr lang="en-US" sz="1300" dirty="0"/>
          </a:p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WebSocket</a:t>
            </a:r>
            <a:endParaRPr lang="en-US" sz="1300" dirty="0"/>
          </a:p>
        </p:txBody>
      </p:sp>
      <p:sp>
        <p:nvSpPr>
          <p:cNvPr id="31" name="card"/>
          <p:cNvSpPr/>
          <p:nvPr/>
        </p:nvSpPr>
        <p:spPr>
          <a:xfrm>
            <a:off x="4754880" y="2606040"/>
            <a:ext cx="1874520" cy="868680"/>
          </a:xfrm>
          <a:prstGeom prst="roundRect">
            <a:avLst>
              <a:gd name="adj" fmla="val 12632"/>
            </a:avLst>
          </a:prstGeom>
          <a:solidFill>
            <a:srgbClr val="FFF1E6"/>
          </a:solidFill>
          <a:ln w="12700">
            <a:solidFill>
              <a:srgbClr val="FED7AA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32" name="icon-badge-FaBell"/>
          <p:cNvSpPr/>
          <p:nvPr/>
        </p:nvSpPr>
        <p:spPr>
          <a:xfrm>
            <a:off x="4892040" y="2825496"/>
            <a:ext cx="420624" cy="420624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33" name="Image 6" descr="FaBell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997196" y="2930652"/>
            <a:ext cx="210312" cy="210312"/>
          </a:xfrm>
          <a:prstGeom prst="rect">
            <a:avLst/>
          </a:prstGeom>
        </p:spPr>
      </p:pic>
      <p:sp>
        <p:nvSpPr>
          <p:cNvPr id="34" name="Text 24"/>
          <p:cNvSpPr txBox="1"/>
          <p:nvPr/>
        </p:nvSpPr>
        <p:spPr>
          <a:xfrm>
            <a:off x="5394960" y="2679192"/>
            <a:ext cx="1188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消息通知</a:t>
            </a:r>
            <a:endParaRPr lang="en-US" sz="1300" dirty="0"/>
          </a:p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订单状态提醒</a:t>
            </a:r>
            <a:endParaRPr lang="en-US" sz="1300" dirty="0"/>
          </a:p>
        </p:txBody>
      </p:sp>
      <p:sp>
        <p:nvSpPr>
          <p:cNvPr id="35" name="card"/>
          <p:cNvSpPr/>
          <p:nvPr/>
        </p:nvSpPr>
        <p:spPr>
          <a:xfrm>
            <a:off x="6766560" y="2606040"/>
            <a:ext cx="1874520" cy="868680"/>
          </a:xfrm>
          <a:prstGeom prst="roundRect">
            <a:avLst>
              <a:gd name="adj" fmla="val 12632"/>
            </a:avLst>
          </a:prstGeom>
          <a:solidFill>
            <a:srgbClr val="FFF1E6"/>
          </a:solidFill>
          <a:ln w="12700">
            <a:solidFill>
              <a:srgbClr val="FED7AA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36" name="icon-badge-FaWandMagicSparkles"/>
          <p:cNvSpPr/>
          <p:nvPr/>
        </p:nvSpPr>
        <p:spPr>
          <a:xfrm>
            <a:off x="6903720" y="2825496"/>
            <a:ext cx="420624" cy="420624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37" name="Image 7" descr="FaWandMagicSparkles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008876" y="2930652"/>
            <a:ext cx="210312" cy="210312"/>
          </a:xfrm>
          <a:prstGeom prst="rect">
            <a:avLst/>
          </a:prstGeom>
        </p:spPr>
      </p:pic>
      <p:sp>
        <p:nvSpPr>
          <p:cNvPr id="38" name="Text 27"/>
          <p:cNvSpPr txBox="1"/>
          <p:nvPr/>
        </p:nvSpPr>
        <p:spPr>
          <a:xfrm>
            <a:off x="7406640" y="2679192"/>
            <a:ext cx="1188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智能推荐</a:t>
            </a:r>
            <a:endParaRPr lang="en-US" sz="1300" dirty="0"/>
          </a:p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基于浏览 / 收藏</a:t>
            </a:r>
            <a:endParaRPr lang="en-US" sz="1300" dirty="0"/>
          </a:p>
        </p:txBody>
      </p:sp>
      <p:sp>
        <p:nvSpPr>
          <p:cNvPr id="39" name="card"/>
          <p:cNvSpPr/>
          <p:nvPr/>
        </p:nvSpPr>
        <p:spPr>
          <a:xfrm>
            <a:off x="4754880" y="3611880"/>
            <a:ext cx="1874520" cy="868680"/>
          </a:xfrm>
          <a:prstGeom prst="roundRect">
            <a:avLst>
              <a:gd name="adj" fmla="val 12632"/>
            </a:avLst>
          </a:prstGeom>
          <a:solidFill>
            <a:srgbClr val="FFF1E6"/>
          </a:solidFill>
          <a:ln w="12700">
            <a:solidFill>
              <a:srgbClr val="FED7AA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40" name="icon-badge-FaCloud"/>
          <p:cNvSpPr/>
          <p:nvPr/>
        </p:nvSpPr>
        <p:spPr>
          <a:xfrm>
            <a:off x="4892040" y="3831336"/>
            <a:ext cx="420624" cy="420624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41" name="Image 8" descr="FaCloud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997196" y="3936492"/>
            <a:ext cx="210312" cy="210312"/>
          </a:xfrm>
          <a:prstGeom prst="rect">
            <a:avLst/>
          </a:prstGeom>
        </p:spPr>
      </p:pic>
      <p:sp>
        <p:nvSpPr>
          <p:cNvPr id="42" name="Text 30"/>
          <p:cNvSpPr txBox="1"/>
          <p:nvPr/>
        </p:nvSpPr>
        <p:spPr>
          <a:xfrm>
            <a:off x="5394960" y="3685032"/>
            <a:ext cx="1188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云端部署</a:t>
            </a:r>
            <a:endParaRPr lang="en-US" sz="1300" dirty="0"/>
          </a:p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Docker 容器化</a:t>
            </a:r>
            <a:endParaRPr lang="en-US" sz="1300" dirty="0"/>
          </a:p>
        </p:txBody>
      </p:sp>
      <p:sp>
        <p:nvSpPr>
          <p:cNvPr id="43" name="card"/>
          <p:cNvSpPr/>
          <p:nvPr/>
        </p:nvSpPr>
        <p:spPr>
          <a:xfrm>
            <a:off x="6766560" y="3611880"/>
            <a:ext cx="1874520" cy="868680"/>
          </a:xfrm>
          <a:prstGeom prst="roundRect">
            <a:avLst>
              <a:gd name="adj" fmla="val 12632"/>
            </a:avLst>
          </a:prstGeom>
          <a:solidFill>
            <a:srgbClr val="FFF1E6"/>
          </a:solidFill>
          <a:ln w="12700">
            <a:solidFill>
              <a:srgbClr val="FED7AA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44" name="icon-badge-FaMobileScreen"/>
          <p:cNvSpPr/>
          <p:nvPr/>
        </p:nvSpPr>
        <p:spPr>
          <a:xfrm>
            <a:off x="6903720" y="3831336"/>
            <a:ext cx="420624" cy="420624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45" name="Image 9" descr="FaMobileScreen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008876" y="3936492"/>
            <a:ext cx="210312" cy="210312"/>
          </a:xfrm>
          <a:prstGeom prst="rect">
            <a:avLst/>
          </a:prstGeom>
        </p:spPr>
      </p:pic>
      <p:sp>
        <p:nvSpPr>
          <p:cNvPr id="46" name="Text 33"/>
          <p:cNvSpPr txBox="1"/>
          <p:nvPr/>
        </p:nvSpPr>
        <p:spPr>
          <a:xfrm>
            <a:off x="7406640" y="3685032"/>
            <a:ext cx="1188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移动端</a:t>
            </a:r>
            <a:endParaRPr lang="en-US" sz="1300" dirty="0"/>
          </a:p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小程序 / H5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138160" y="4818888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rgbClr val="6B728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1554480"/>
            <a:ext cx="8229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chemeClr val="bg1"/>
                </a:solidFill>
              </a:rPr>
              <a:t>感谢聆听，敬请指正</a:t>
            </a:r>
            <a:endParaRPr lang="en-US" sz="44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457200" y="251460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dirty="0">
                <a:solidFill>
                  <a:schemeClr val="accent2"/>
                </a:solidFill>
              </a:rPr>
              <a:t>Q &amp; A</a:t>
            </a:r>
            <a:endParaRPr lang="en-US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324612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D1D5DB"/>
                </a:solidFill>
              </a:rPr>
              <a:t>演示账号：管理员 admin / admin123   ·   学生 zhangsan / 123456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361188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9CA3AF"/>
                </a:solidFill>
              </a:rPr>
              <a:t>项目地址：https://github.com/lifan-777/chat666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Campus Market">
  <a:themeElements>
    <a:clrScheme name="Campus Market">
      <a:dk1>
        <a:srgbClr val="1F2937"/>
      </a:dk1>
      <a:lt1>
        <a:srgbClr val="FFFFFF"/>
      </a:lt1>
      <a:dk2>
        <a:srgbClr val="4B5563"/>
      </a:dk2>
      <a:lt2>
        <a:srgbClr val="F4F5F7"/>
      </a:lt2>
      <a:accent1>
        <a:srgbClr val="F97316"/>
      </a:accent1>
      <a:accent2>
        <a:srgbClr val="FDBA74"/>
      </a:accent2>
      <a:accent3>
        <a:srgbClr val="10B981"/>
      </a:accent3>
      <a:accent4>
        <a:srgbClr val="3B82F6"/>
      </a:accent4>
      <a:accent5>
        <a:srgbClr val="8B5CF6"/>
      </a:accent5>
      <a:accent6>
        <a:srgbClr val="EC4899"/>
      </a:accent6>
      <a:hlink>
        <a:srgbClr val="EA580C"/>
      </a:hlink>
      <a:folHlink>
        <a:srgbClr val="9A3412"/>
      </a:folHlink>
    </a:clrScheme>
    <a:fontScheme name="Office">
      <a:majorFont>
        <a:latin typeface="Microsoft YaHei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Microsoft YaHe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23</Slides>
  <Notes>23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23</vt:i4>
      </vt:variant>
    </vt:vector>
  </HeadingPairs>
  <TitlesOfParts>
    <vt:vector size="2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校园二手交易平台 答辩演示</dc:title>
  <dc:subject>软件工程课程设计答辩</dc:subject>
  <dc:creator>李帆</dc:creator>
  <cp:lastModifiedBy>李帆</cp:lastModifiedBy>
  <cp:revision>1</cp:revision>
  <dcterms:created xsi:type="dcterms:W3CDTF">2026-10-26T10:50:18Z</dcterms:created>
  <dcterms:modified xsi:type="dcterms:W3CDTF">2026-10-26T10:50:18Z</dcterms:modified>
</cp:coreProperties>
</file>